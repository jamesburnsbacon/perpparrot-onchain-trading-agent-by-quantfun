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7f9c53c9094e51" /><Relationship Type="http://schemas.openxmlformats.org/officeDocument/2006/relationships/extended-properties" Target="/docProps/app.xml" Id="R099503974320404c" /><Relationship Type="http://schemas.openxmlformats.org/officeDocument/2006/relationships/officeDocument" Target="/ppt/presentation.xml" Id="R4078678ac63c467c" /></Relationships>
</file>

<file path=ppt/presentation.xml><?xml version="1.0" encoding="utf-8"?>
<p:presentation xmlns:p="http://schemas.openxmlformats.org/presentationml/2006/main">
  <p:sldMasterIdLst>
    <p:sldMasterId xmlns:r="http://schemas.openxmlformats.org/officeDocument/2006/relationships" id="2147483648" r:id="R7aa539969cbd4dc8"/>
  </p:sldMasterIdLst>
  <p:notesMasterIdLst>
    <p:notesMasterId xmlns:r="http://schemas.openxmlformats.org/officeDocument/2006/relationships" r:id="Rd9cc2400dc2d4504"/>
  </p:notesMasterIdLst>
  <p:sldIdLst>
    <p:sldId xmlns:r="http://schemas.openxmlformats.org/officeDocument/2006/relationships" id="256" r:id="R867aafc8a2324a35"/>
    <p:sldId xmlns:r="http://schemas.openxmlformats.org/officeDocument/2006/relationships" id="257" r:id="Rfde93216bc814ac7"/>
    <p:sldId xmlns:r="http://schemas.openxmlformats.org/officeDocument/2006/relationships" id="258" r:id="R14f92958a8514170"/>
    <p:sldId xmlns:r="http://schemas.openxmlformats.org/officeDocument/2006/relationships" id="259" r:id="R0a454e750d24430e"/>
    <p:sldId xmlns:r="http://schemas.openxmlformats.org/officeDocument/2006/relationships" id="260" r:id="Re02c60131a6d40a3"/>
    <p:sldId xmlns:r="http://schemas.openxmlformats.org/officeDocument/2006/relationships" id="261" r:id="Ref761d8f1efe4636"/>
    <p:sldId xmlns:r="http://schemas.openxmlformats.org/officeDocument/2006/relationships" id="262" r:id="R6f682eb2440940ef"/>
    <p:sldId xmlns:r="http://schemas.openxmlformats.org/officeDocument/2006/relationships" id="263" r:id="R59daadf940c04b3a"/>
    <p:sldId xmlns:r="http://schemas.openxmlformats.org/officeDocument/2006/relationships" id="264" r:id="R35e39328161a4ea8"/>
    <p:sldId xmlns:r="http://schemas.openxmlformats.org/officeDocument/2006/relationships" id="265" r:id="Raceff06d9bad488d"/>
    <p:sldId xmlns:r="http://schemas.openxmlformats.org/officeDocument/2006/relationships" id="266" r:id="R84bca126d2434622"/>
    <p:sldId xmlns:r="http://schemas.openxmlformats.org/officeDocument/2006/relationships" id="267" r:id="R9e05101b482e40b7"/>
    <p:sldId xmlns:r="http://schemas.openxmlformats.org/officeDocument/2006/relationships" id="268" r:id="Rf199c74531e54363"/>
    <p:sldId xmlns:r="http://schemas.openxmlformats.org/officeDocument/2006/relationships" id="269" r:id="R92774cc1c1c74e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48c7673dd8b48eb" /><Relationship Type="http://schemas.openxmlformats.org/officeDocument/2006/relationships/slideMaster" Target="/ppt/slideMasters/slideMaster1.xml" Id="R7aa539969cbd4dc8" /><Relationship Type="http://schemas.openxmlformats.org/officeDocument/2006/relationships/notesMaster" Target="/ppt/notesMasters/notesMaster1.xml" Id="Rd9cc2400dc2d4504" /><Relationship Type="http://schemas.openxmlformats.org/officeDocument/2006/relationships/presProps" Target="/ppt/presProps.xml" Id="R03f563a201284c6f" /><Relationship Type="http://schemas.openxmlformats.org/officeDocument/2006/relationships/tableStyles" Target="/ppt/tableStyles.xml" Id="R0632eb2e15c34db8" /><Relationship Type="http://schemas.openxmlformats.org/officeDocument/2006/relationships/slide" Target="/ppt/slides/slide1.xml" Id="R867aafc8a2324a35" /><Relationship Type="http://schemas.openxmlformats.org/officeDocument/2006/relationships/slide" Target="/ppt/slides/slide2.xml" Id="Rfde93216bc814ac7" /><Relationship Type="http://schemas.openxmlformats.org/officeDocument/2006/relationships/slide" Target="/ppt/slides/slide3.xml" Id="R14f92958a8514170" /><Relationship Type="http://schemas.openxmlformats.org/officeDocument/2006/relationships/slide" Target="/ppt/slides/slide4.xml" Id="R0a454e750d24430e" /><Relationship Type="http://schemas.openxmlformats.org/officeDocument/2006/relationships/slide" Target="/ppt/slides/slide5.xml" Id="Re02c60131a6d40a3" /><Relationship Type="http://schemas.openxmlformats.org/officeDocument/2006/relationships/slide" Target="/ppt/slides/slide6.xml" Id="Ref761d8f1efe4636" /><Relationship Type="http://schemas.openxmlformats.org/officeDocument/2006/relationships/slide" Target="/ppt/slides/slide7.xml" Id="R6f682eb2440940ef" /><Relationship Type="http://schemas.openxmlformats.org/officeDocument/2006/relationships/slide" Target="/ppt/slides/slide8.xml" Id="R59daadf940c04b3a" /><Relationship Type="http://schemas.openxmlformats.org/officeDocument/2006/relationships/slide" Target="/ppt/slides/slide9.xml" Id="R35e39328161a4ea8" /><Relationship Type="http://schemas.openxmlformats.org/officeDocument/2006/relationships/slide" Target="/ppt/slides/slide10.xml" Id="Raceff06d9bad488d" /><Relationship Type="http://schemas.openxmlformats.org/officeDocument/2006/relationships/slide" Target="/ppt/slides/slide11.xml" Id="R84bca126d2434622" /><Relationship Type="http://schemas.openxmlformats.org/officeDocument/2006/relationships/slide" Target="/ppt/slides/slide12.xml" Id="R9e05101b482e40b7" /><Relationship Type="http://schemas.openxmlformats.org/officeDocument/2006/relationships/slide" Target="/ppt/slides/slide13.xml" Id="Rf199c74531e54363" /><Relationship Type="http://schemas.openxmlformats.org/officeDocument/2006/relationships/slide" Target="/ppt/slides/slide14.xml" Id="R92774cc1c1c74e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a3fb9fa93442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4e9080b36574a79" /><Relationship Type="http://schemas.openxmlformats.org/officeDocument/2006/relationships/notesMaster" Target="/ppt/notesMasters/notesMaster1.xml" Id="R75c18dec48e843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94f4df16fa4176" /><Relationship Type="http://schemas.openxmlformats.org/officeDocument/2006/relationships/notesMaster" Target="/ppt/notesMasters/notesMaster1.xml" Id="R91cd60b3bd6340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25ef424db44a7a" /><Relationship Type="http://schemas.openxmlformats.org/officeDocument/2006/relationships/notesMaster" Target="/ppt/notesMasters/notesMaster1.xml" Id="R09f2ce47eca54e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7cb42e41464e65" /><Relationship Type="http://schemas.openxmlformats.org/officeDocument/2006/relationships/notesMaster" Target="/ppt/notesMasters/notesMaster1.xml" Id="R538e28ed182f4f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4d560b4bc341ba" /><Relationship Type="http://schemas.openxmlformats.org/officeDocument/2006/relationships/notesMaster" Target="/ppt/notesMasters/notesMaster1.xml" Id="R6481e34e72134f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057c9dcb3f402e" /><Relationship Type="http://schemas.openxmlformats.org/officeDocument/2006/relationships/notesMaster" Target="/ppt/notesMasters/notesMaster1.xml" Id="R326e5b100af54c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5e960a74884330" /><Relationship Type="http://schemas.openxmlformats.org/officeDocument/2006/relationships/notesMaster" Target="/ppt/notesMasters/notesMaster1.xml" Id="Rd9071a54abea43af"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45494bf895400a" /><Relationship Type="http://schemas.openxmlformats.org/officeDocument/2006/relationships/notesMaster" Target="/ppt/notesMasters/notesMaster1.xml" Id="R1226d449e4ca46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40c46295d548ea" /><Relationship Type="http://schemas.openxmlformats.org/officeDocument/2006/relationships/notesMaster" Target="/ppt/notesMasters/notesMaster1.xml" Id="R24cd2e2635da47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661611d8bf4f86" /><Relationship Type="http://schemas.openxmlformats.org/officeDocument/2006/relationships/notesMaster" Target="/ppt/notesMasters/notesMaster1.xml" Id="Rc7fffb05985246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62d43f625042e1" /><Relationship Type="http://schemas.openxmlformats.org/officeDocument/2006/relationships/notesMaster" Target="/ppt/notesMasters/notesMaster1.xml" Id="R5b7b47e3e804437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343e99826794d68" /><Relationship Type="http://schemas.openxmlformats.org/officeDocument/2006/relationships/notesMaster" Target="/ppt/notesMasters/notesMaster1.xml" Id="R65770fd3343b4e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eae076cec043e4" /><Relationship Type="http://schemas.openxmlformats.org/officeDocument/2006/relationships/notesMaster" Target="/ppt/notesMasters/notesMaster1.xml" Id="R5dd66431f91646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b3f9f254124aae" /><Relationship Type="http://schemas.openxmlformats.org/officeDocument/2006/relationships/notesMaster" Target="/ppt/notesMasters/notesMaster1.xml" Id="R72c32e2fb7f647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PerpParrot helps you understand what several traders’ positions mean together. Instead of checking accounts separately and reconciling conflicting positions, you see one combined plan, who contributes, and how it changes. Today, you can explore our read-only paper demo.</a:t>
            </a:r>
          </a:p>
          <a:p xmlns:a="http://schemas.openxmlformats.org/drawingml/2006/main">
            <a:r>
              <a:t/>
            </a:r>
          </a:p>
          <a:p xmlns:a="http://schemas.openxmlformats.org/drawingml/2006/main">
            <a:r>
              <a:t>Evidence and interpretation:</a:t>
            </a:r>
          </a:p>
          <a:p xmlns:a="http://schemas.openxmlformats.org/drawingml/2006/main">
            <a:r>
              <a:t>PerpParrot combines selected Hyperliquid accounts into an inspectable portfolio plan. This guided demo explains the public read-only experience. The bird is brand imagery. No funded trading result is claimed. Mirror reference inspired editorial pacing and typography only. The forest and conure represent PerpParrot branding; no reference business, health or fundraising facts are reused.</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You are watching three traders. Their contributions point in different directions: six hundred dollars long, two hundred short, four hundred long. Looking at each account separately does not tell you the combined position.</a:t>
            </a:r>
          </a:p>
          <a:p xmlns:a="http://schemas.openxmlformats.org/drawingml/2006/main">
            <a:r>
              <a:t/>
            </a:r>
          </a:p>
          <a:p xmlns:a="http://schemas.openxmlformats.org/drawingml/2006/main">
            <a:r>
              <a:t>Evidence and interpretation:</a:t>
            </a:r>
          </a:p>
          <a:p xmlns:a="http://schemas.openxmlformats.org/drawingml/2006/main">
            <a:r>
              <a:t>The three fictional traders illustrate weighted and normalized Bitcoin contributions, not raw wallet balances. A positive contribution is long and a negative contribution is short. The dollar amounts describe exposure, not profits. A portfolio plan repeats this combination across assets.</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They add up to eight hundred dollars long. The short offsets part of the longs. One planned Bitcoin position replaces three conflicting contributions. These numbers illustrate the calculation; they are not actual trades. Now, the real demo.</a:t>
            </a:r>
          </a:p>
          <a:p xmlns:a="http://schemas.openxmlformats.org/drawingml/2006/main">
            <a:r>
              <a:t/>
            </a:r>
          </a:p>
          <a:p xmlns:a="http://schemas.openxmlformats.org/drawingml/2006/main">
            <a:r>
              <a:t>Evidence and interpretation:</a:t>
            </a:r>
          </a:p>
          <a:p xmlns:a="http://schemas.openxmlformats.org/drawingml/2006/main">
            <a:r>
              <a:t>The two long contributions total $1,000. The short contribution offsets $200, leaving a planned $800 Bitcoin exposure. These illustrative numbers do not reproduce the dashboard snapshot shown next. A target is an intended position rather than a confirmed filled order.</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A final number hides where it came from. Here the contributors stay visible. This capture has six selected sources. The largest share is twenty-three point two percent. A share weights a trader’s positions before they are combined. You can see whose positions shape the plan, rather than only seeing its final total.</a:t>
            </a:r>
          </a:p>
          <a:p xmlns:a="http://schemas.openxmlformats.org/drawingml/2006/main">
            <a:r>
              <a:t/>
            </a:r>
          </a:p>
          <a:p xmlns:a="http://schemas.openxmlformats.org/drawingml/2006/main">
            <a:r>
              <a:t>Evidence and interpretation:</a:t>
            </a:r>
          </a:p>
          <a:p xmlns:a="http://schemas.openxmlformats.org/drawingml/2006/main">
            <a:r>
              <a:t>This authentic earlier screenshot shows six selected sources. The largest frozen allocation weight is 23.2%. A weight is an input to contribution calculations, not necessarily the final fraction of portfolio exposure after leverage normalization and caps. The public demo is read-only and does not demonstrate visitor selection controls. The capture predates the latest source policy.</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Two questions matter: which direction, and how much? This view answers both in one place. Bitcoin is planned long at two point one percent of portfolio value; Litecoin is short at one percent. Blue and red show direction. The percentages show exposure, not expected returns. You can understand both direction and size.</a:t>
            </a:r>
          </a:p>
          <a:p xmlns:a="http://schemas.openxmlformats.org/drawingml/2006/main">
            <a:r>
              <a:t/>
            </a:r>
          </a:p>
          <a:p xmlns:a="http://schemas.openxmlformats.org/drawingml/2006/main">
            <a:r>
              <a:t>Evidence and interpretation:</a:t>
            </a:r>
          </a:p>
          <a:p xmlns:a="http://schemas.openxmlformats.org/drawingml/2006/main">
            <a:r>
              <a:t>The authentic chart shows planned exposures relative to portfolio equity. Bitcoin is long 2.1% and LTC is short 1.0%. These are exposure percentages, not predicted or achieved returns. The chart preserves its Long/Short legend and disclosure that six smaller targets are not shown. These actual targets are separate from the preceding fictional $800 example.</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Why those sources? The review asks three questions: does the trader fit, what could go wrong, and what might have been missed? Three AI contexts use one provider. They support source review; they do not guarantee protection or profitable copying.</a:t>
            </a:r>
          </a:p>
          <a:p xmlns:a="http://schemas.openxmlformats.org/drawingml/2006/main">
            <a:r>
              <a:t/>
            </a:r>
          </a:p>
          <a:p xmlns:a="http://schemas.openxmlformats.org/drawingml/2006/main">
            <a:r>
              <a:t>Evidence and interpretation:</a:t>
            </a:r>
          </a:p>
          <a:p xmlns:a="http://schemas.openxmlformats.org/drawingml/2006/main">
            <a:r>
              <a:t>The implementation asks specialist AI contexts about fit, risk and possible omissions, and records chosen sources and allocations. The contexts use one observed provider and do not constitute independent model consensus. A basic fallback can activate without all strict fields or Red Team veto, so these questions do not prove that every active selection passed strict review.</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Return to our example. Trader A exits. The plan drops from eight hundred to two hundred dollars long. A’s share is not reassigned to the others. With B and C unchanged and no cap adjustment, you can explain why the plan changed.</a:t>
            </a:r>
          </a:p>
          <a:p xmlns:a="http://schemas.openxmlformats.org/drawingml/2006/main">
            <a:r>
              <a:t/>
            </a:r>
          </a:p>
          <a:p xmlns:a="http://schemas.openxmlformats.org/drawingml/2006/main">
            <a:r>
              <a:t>Evidence and interpretation:</a:t>
            </a:r>
          </a:p>
          <a:p xmlns:a="http://schemas.openxmlformats.org/drawingml/2006/main">
            <a:r>
              <a:t>The illustration preserves A, B and C from the opening example. When A becomes flat, its contribution falls to zero. The new combined plan is zero minus $200 plus $400, or $200. B and C inputs, including their weights, prices and normalization, are unchanged. The gross cap is nonbinding. Frozen seat weights are not redistributed. Held full closes require three consecutive zero-target runs, so the diagram describes the computed plan rather than immediate funded execution.</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Before judging a result, check whether the system ran, and where it stopped. Each cell represents one scheduled run. Green shows completed dry-run activity; red shows failures. This demo makes interruptions visible. A green cell is not proof of a funded fill or a successful investment.</a:t>
            </a:r>
          </a:p>
          <a:p xmlns:a="http://schemas.openxmlformats.org/drawingml/2006/main">
            <a:r>
              <a:t/>
            </a:r>
          </a:p>
          <a:p xmlns:a="http://schemas.openxmlformats.org/drawingml/2006/main">
            <a:r>
              <a:t>Evidence and interpretation:</a:t>
            </a:r>
          </a:p>
          <a:p xmlns:a="http://schemas.openxmlformats.org/drawingml/2006/main">
            <a:r>
              <a:t>This is an authentic heartbeat crop, preserving the one-cell-per-ten-minute-run label and Executed/Paused/Failed legend. Green means recorded executed activity in this paper/dry context, not confirmed live fills or profitable trades. Red cells show failed scheduled activity. The heartbeat supports observing interruptions but is not a verified complete end-to-end transaction trace.</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Finally, read the paper result. This earlier capture shows the model changing over time, with modeled fills and costs. It is useful for inspecting simulated behavior. It does not establish live returns or predict performance.</a:t>
            </a:r>
          </a:p>
          <a:p xmlns:a="http://schemas.openxmlformats.org/drawingml/2006/main">
            <a:r>
              <a:t/>
            </a:r>
          </a:p>
          <a:p xmlns:a="http://schemas.openxmlformats.org/drawingml/2006/main">
            <a:r>
              <a:t>Evidence and interpretation:</a:t>
            </a:r>
          </a:p>
          <a:p xmlns:a="http://schemas.openxmlformats.org/drawingml/2006/main">
            <a:r>
              <a:t>The authentic earlier graph displays changes from each paper model’s starting capital. The $470 book showed +0.41% in this capture. Fills, fees, slippage and funding are modeled. The literal legend says live size, meaning model account size here, not funded execution. The graph predates current normalization code. These outcomes do not demonstrate future returns or funded performance.</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Spoken pitch:</a:t>
            </a:r>
          </a:p>
          <a:p xmlns:a="http://schemas.openxmlformats.org/drawingml/2006/main">
            <a:r>
              <a:t>The clarity we offer answers two questions: what am I following, and why has the plan changed? Open the demo and see whether you can explain one plan: who contributes, what positions result, and what the paper system recorded. You can understand the positions together, instead of piecing together separate accounts.</a:t>
            </a:r>
          </a:p>
          <a:p xmlns:a="http://schemas.openxmlformats.org/drawingml/2006/main">
            <a:r>
              <a:t/>
            </a:r>
          </a:p>
          <a:p xmlns:a="http://schemas.openxmlformats.org/drawingml/2006/main">
            <a:r>
              <a:t>Evidence and interpretation:</a:t>
            </a:r>
          </a:p>
          <a:p xmlns:a="http://schemas.openxmlformats.org/drawingml/2006/main">
            <a:r>
              <a:t>The reader can perform these inspection tasks in the public read-only paper demo: inspect selected traders and weights, read planned asset exposures, and check dry activity and modeled outcomes. No deposit, wallet onboarding, trading authorization or self-service selection is demonstrated.</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history: combined position math and scoring on 6 October; scheduled behavioral review and recovery on 7 October; per-wallet roster, bench and winding down at 15:48–16:02 SGT; fixed exposure multipliers and a 5× aggressive gross cap at 16:09; per-source average-leverage normalization from 16:15, present in reviewed commit 7c05d74. Unknown or invalid average leverage leaves scale at one. These are source implementation facts, not measured deployment or churn improvements. Latest reviewed baseline is 7c05d74. Counted gross equals the larger signed side plus half the smaller signed side. At most the fifteen largest absolute asset exposures are retained and rescaled to preserve counted gross, then capped. Roster sizing is now twelve to fifteen sources, distinct from the six-source earlier capture. The repository also reports retrospective fixed-price turnover replay, not a PnL study; this deck makes no measured current churn claim.</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historical screenshot comes from slide 6 of the supplied PerpParrot-Gamma-Editable-Master.pptx. One recorded snapshot matched the original shared target calculation in all 33 integer outputs. It predates fixed-weight corrections, roster wind-down caps and latest leverage normalization. It does not validate the latest pipeline or funded execution. A fresh current-math replay remains pending. A fresh exact-target comparison using the latest implementation remains pending; the repository’s newer turnover replay addresses a different question.</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code has 5× gross caps per source and combined portfolio. Aggressive ordinary trades require the $10 minimum, 10% target drift and 0.5% equity floor. Target and equity-floor multipliers are 1, 0.5 and 0.25. Full closes require three zero-target runs. Winding-down seats follow same-sign reductions within recorded caps. Unknown actions hold affected assets while reconciliation proceeds. One provider and basic fallback remain review limitations; no complete safety or exactly-once guarantee follows. Latest 7c05d74 changes gross counting and retains at most fifteen positions. Minority exposure counts at half. These are implementation rules, not guarantees of equal risk.</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classes remain separate: source at reviewed commit 7c05d74; earlier authentic UI capture with last run 15:30 SGT; later public API observations with paper run 16:30 SGT; historical 33/33 fixture; and proposed validation. Public executor status reports dryRun=true and lastRunAt=null. These observations neither establish funded fills nor map the deployed commit. The conditional UI word live is not proof of funded results. Next work is latest-math replay, verified deployment capture, funded recovery and future holdout evaluation. Next work includes independent verification of the repository-reported turnover replay, a fresh exact-target comparison, deployment verification, and funded recovery validation.</a:t>
            </a:r>
          </a:p>
          <a:p xmlns:a="http://schemas.openxmlformats.org/drawingml/2006/main">
            <a:r>
              <a:t/>
            </a:r>
          </a:p>
          <a:p xmlns:a="http://schemas.openxmlformats.org/drawingml/2006/main">
            <a:r>
              <a:t>Source baseline: 7c05d74. Earlier authentic captures:7October2026,last displayed run15:30SGT. Source review is separate from deployed-build verification.</a:t>
            </a:r>
          </a:p>
          <a:p xmlns:a="http://schemas.openxmlformats.org/drawingml/2006/main">
            <a:r>
              <a:t>https://github.com/JamesBurnsBacon/PerpParrot-Onchain-Trading-Agent-by-QuantFun/blob/7c05d74/packages/shared/copy.ts</a:t>
            </a:r>
          </a:p>
          <a:p xmlns:a="http://schemas.openxmlformats.org/drawingml/2006/main">
            <a:r>
              <a:t>https://perpparrot.vercel.app/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b9efbbe66742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53eb86090441f6" /><Relationship Type="http://schemas.openxmlformats.org/officeDocument/2006/relationships/slideLayout" Target="/ppt/slideLayouts/slideLayout1.xml" Id="Rbd94549f78b24a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4549f78b24a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3d7b1cc5644b2a" /><Relationship Type="http://schemas.openxmlformats.org/officeDocument/2006/relationships/image" Target="/ppt/media/image.png" Id="R8990c66cfb684d91" /><Relationship Type="http://schemas.openxmlformats.org/officeDocument/2006/relationships/notesSlide" Target="/ppt/notesSlides/notesSlide1.xml" Id="R62d432c510724c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08b5a1fe9a4fb4" /><Relationship Type="http://schemas.openxmlformats.org/officeDocument/2006/relationships/notesSlide" Target="/ppt/notesSlides/notesSlide2.xml" Id="R3f9c8d262d8a43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9fc1e498934e76" /><Relationship Type="http://schemas.openxmlformats.org/officeDocument/2006/relationships/notesSlide" Target="/ppt/notesSlides/notesSlide3.xml" Id="R4f54428b4f3b49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58787b77c348ff" /><Relationship Type="http://schemas.openxmlformats.org/officeDocument/2006/relationships/image" Target="/ppt/media/image.jpeg" Id="R7c4affe0a8fd45a0" /><Relationship Type="http://schemas.openxmlformats.org/officeDocument/2006/relationships/notesSlide" Target="/ppt/notesSlides/notesSlide4.xml" Id="R29e68013598c42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168dc14775446b" /><Relationship Type="http://schemas.openxmlformats.org/officeDocument/2006/relationships/image" Target="/ppt/media/image2.jpeg" Id="Rb69b5b480f4b4646" /><Relationship Type="http://schemas.openxmlformats.org/officeDocument/2006/relationships/notesSlide" Target="/ppt/notesSlides/notesSlide5.xml" Id="R23f0344c309a40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e13c54d3ac425b" /><Relationship Type="http://schemas.openxmlformats.org/officeDocument/2006/relationships/notesSlide" Target="/ppt/notesSlides/notesSlide6.xml" Id="Rf9ef948cf52347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ed6ad49fd34171" /><Relationship Type="http://schemas.openxmlformats.org/officeDocument/2006/relationships/notesSlide" Target="/ppt/notesSlides/notesSlide7.xml" Id="R0fab99dd63d54a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c577db27c543dd" /><Relationship Type="http://schemas.openxmlformats.org/officeDocument/2006/relationships/image" Target="/ppt/media/image3.jpeg" Id="Rdf008c9be76b4cd0" /><Relationship Type="http://schemas.openxmlformats.org/officeDocument/2006/relationships/notesSlide" Target="/ppt/notesSlides/notesSlide8.xml" Id="R979ac98d389a4e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d76cd170494675" /><Relationship Type="http://schemas.openxmlformats.org/officeDocument/2006/relationships/image" Target="/ppt/media/image4.jpeg" Id="Rfaec2fbd6db64ac7" /><Relationship Type="http://schemas.openxmlformats.org/officeDocument/2006/relationships/notesSlide" Target="/ppt/notesSlides/notesSlide9.xml" Id="Ra8307e37ed834d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ac04421ea13410b" /><Relationship Type="http://schemas.openxmlformats.org/officeDocument/2006/relationships/image" Target="/ppt/media/image2.png" Id="R31d0dd43f6fe4fd7" /><Relationship Type="http://schemas.openxmlformats.org/officeDocument/2006/relationships/notesSlide" Target="/ppt/notesSlides/notesSlide10.xml" Id="R23ed0a3a46e644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051aeca3174e00" /><Relationship Type="http://schemas.openxmlformats.org/officeDocument/2006/relationships/notesSlide" Target="/ppt/notesSlides/notesSlide11.xml" Id="Rbcf40cd354eb4ef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54a2762807a4690" /><Relationship Type="http://schemas.openxmlformats.org/officeDocument/2006/relationships/image" Target="/ppt/media/image3.png" Id="Rdbbbdeff579f4eb4" /><Relationship Type="http://schemas.openxmlformats.org/officeDocument/2006/relationships/notesSlide" Target="/ppt/notesSlides/notesSlide12.xml" Id="R14e2f4a52e3b4c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8d00f5e8f14560" /><Relationship Type="http://schemas.openxmlformats.org/officeDocument/2006/relationships/notesSlide" Target="/ppt/notesSlides/notesSlide13.xml" Id="Rb2ef7fb37d40432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c2d1e33cc6546db" /><Relationship Type="http://schemas.openxmlformats.org/officeDocument/2006/relationships/notesSlide" Target="/ppt/notesSlides/notesSlide14.xml" Id="Rb3c936bfa2f54958" /></Relationships>
</file>

<file path=ppt/slides/slide1.xml><?xml version="1.0" encoding="utf-8"?>
<p:sld xmlns:p="http://schemas.openxmlformats.org/presentationml/2006/main">
  <p:cSld>
    <p:bg>
      <p:bgPr>
        <a:solidFill xmlns:a="http://schemas.openxmlformats.org/drawingml/2006/main">
          <a:srgbClr val="143A2B"/>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6686E0E-3029-4EE5-A5CA-9E8B112848D3}"/>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FA2DC4C0-803E-414C-9715-B3A445941BBF}"/>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CBD9C8"/>
                </a:solidFill>
                <a:latin typeface="Rubik"/>
                <a:ea typeface="Rubik"/>
                <a:cs typeface="Rubik"/>
              </a:defRPr>
            </a:pPr>
            <a:r>
              <a:rPr sz="1350" b="0">
                <a:solidFill>
                  <a:srgbClr val="CBD9C8"/>
                </a:solidFill>
                <a:latin typeface="Rubik"/>
                <a:ea typeface="Rubik"/>
                <a:cs typeface="Rubik"/>
              </a:rPr>
              <a:t>01</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990c66cfb684d91"/>
          <a:stretch xmlns:a="http://schemas.openxmlformats.org/drawingml/2006/main"/>
        </p:blipFill>
        <p:spPr>
          <a:xfrm xmlns:a="http://schemas.openxmlformats.org/drawingml/2006/main">
            <a:off x="8382000" y="1295400"/>
            <a:ext cx="3200400" cy="48006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961BDC8-7902-4A9E-A0D3-419805CF3E81}"/>
              </a:ext>
            </a:extLst>
          </p:cNvPr>
          <p:cNvSpPr>
            <a:spLocks xmlns:a="http://schemas.openxmlformats.org/drawingml/2006/main" noGrp="1"/>
          </p:cNvSpPr>
          <p:nvPr/>
        </p:nvSpPr>
        <p:spPr>
          <a:xfrm xmlns:a="http://schemas.openxmlformats.org/drawingml/2006/main">
            <a:off x="609600" y="838200"/>
            <a:ext cx="723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1">
                <a:solidFill>
                  <a:srgbClr val="F4F0E4"/>
                </a:solidFill>
                <a:latin typeface="Rubik"/>
                <a:ea typeface="Rubik"/>
                <a:cs typeface="Rubik"/>
              </a:defRPr>
            </a:pPr>
            <a:r>
              <a:rPr sz="2400" b="1">
                <a:solidFill>
                  <a:srgbClr val="F4F0E4"/>
                </a:solidFill>
                <a:latin typeface="Rubik"/>
                <a:ea typeface="Rubik"/>
                <a:cs typeface="Rubik"/>
              </a:rPr>
              <a:t>PerpParrot</a:t>
            </a:r>
          </a:p>
        </p:txBody>
      </p:sp>
      <p:sp>
        <p:nvSpPr>
          <p:cNvPr id="5" name="">
            <a:extLst xmlns:a="http://schemas.openxmlformats.org/drawingml/2006/main">
              <a:ext uri="{FF2B5EF4-FFF2-40B4-BE49-F238E27FC236}">
                <a16:creationId xmlns:a16="http://schemas.microsoft.com/office/drawing/2014/main" id="{BF7296FA-C48F-4297-9B60-ACA849F8395E}"/>
              </a:ext>
            </a:extLst>
          </p:cNvPr>
          <p:cNvSpPr>
            <a:spLocks xmlns:a="http://schemas.openxmlformats.org/drawingml/2006/main" noGrp="1"/>
          </p:cNvSpPr>
          <p:nvPr/>
        </p:nvSpPr>
        <p:spPr>
          <a:xfrm xmlns:a="http://schemas.openxmlformats.org/drawingml/2006/main">
            <a:off x="609600" y="1828800"/>
            <a:ext cx="723900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650" b="0">
                <a:solidFill>
                  <a:srgbClr val="F4F0E4"/>
                </a:solidFill>
                <a:latin typeface="Athelas"/>
                <a:ea typeface="Athelas"/>
                <a:cs typeface="Athelas"/>
              </a:defRPr>
            </a:pPr>
            <a:r>
              <a:rPr sz="4650" b="0">
                <a:solidFill>
                  <a:srgbClr val="F4F0E4"/>
                </a:solidFill>
                <a:latin typeface="Athelas"/>
                <a:ea typeface="Athelas"/>
                <a:cs typeface="Athelas"/>
              </a:rPr>
              <a:t>Several traders.</a:t>
            </a:r>
          </a:p>
          <a:p xmlns:a="http://schemas.openxmlformats.org/drawingml/2006/main">
            <a:pPr algn="l">
              <a:defRPr sz="4650" b="0">
                <a:solidFill>
                  <a:srgbClr val="F4F0E4"/>
                </a:solidFill>
                <a:latin typeface="Athelas"/>
                <a:ea typeface="Athelas"/>
                <a:cs typeface="Athelas"/>
              </a:defRPr>
            </a:pPr>
            <a:r>
              <a:rPr sz="4650" b="0">
                <a:solidFill>
                  <a:srgbClr val="F4F0E4"/>
                </a:solidFill>
                <a:latin typeface="Athelas"/>
                <a:ea typeface="Athelas"/>
                <a:cs typeface="Athelas"/>
              </a:rPr>
              <a:t>One plan you can</a:t>
            </a:r>
          </a:p>
          <a:p xmlns:a="http://schemas.openxmlformats.org/drawingml/2006/main">
            <a:pPr algn="l">
              <a:defRPr sz="4650" b="0">
                <a:solidFill>
                  <a:srgbClr val="F4F0E4"/>
                </a:solidFill>
                <a:latin typeface="Athelas"/>
                <a:ea typeface="Athelas"/>
                <a:cs typeface="Athelas"/>
              </a:defRPr>
            </a:pPr>
            <a:r>
              <a:rPr sz="4650" b="0">
                <a:solidFill>
                  <a:srgbClr val="F4F0E4"/>
                </a:solidFill>
                <a:latin typeface="Athelas"/>
                <a:ea typeface="Athelas"/>
                <a:cs typeface="Athelas"/>
              </a:rPr>
              <a:t>understand.</a:t>
            </a:r>
          </a:p>
        </p:txBody>
      </p:sp>
      <p:sp>
        <p:nvSpPr>
          <p:cNvPr id="6" name="">
            <a:extLst xmlns:a="http://schemas.openxmlformats.org/drawingml/2006/main">
              <a:ext uri="{FF2B5EF4-FFF2-40B4-BE49-F238E27FC236}">
                <a16:creationId xmlns:a16="http://schemas.microsoft.com/office/drawing/2014/main" id="{F428246E-1F14-4F7E-BF71-8AFC196D5B68}"/>
              </a:ext>
            </a:extLst>
          </p:cNvPr>
          <p:cNvSpPr>
            <a:spLocks xmlns:a="http://schemas.openxmlformats.org/drawingml/2006/main" noGrp="1"/>
          </p:cNvSpPr>
          <p:nvPr/>
        </p:nvSpPr>
        <p:spPr>
          <a:xfrm xmlns:a="http://schemas.openxmlformats.org/drawingml/2006/main">
            <a:off x="609600" y="4552950"/>
            <a:ext cx="704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F4F0E4"/>
                </a:solidFill>
                <a:latin typeface="Rubik"/>
                <a:ea typeface="Rubik"/>
                <a:cs typeface="Rubik"/>
              </a:defRPr>
            </a:pPr>
            <a:r>
              <a:rPr sz="2100" b="0">
                <a:solidFill>
                  <a:srgbClr val="F4F0E4"/>
                </a:solidFill>
                <a:latin typeface="Rubik"/>
                <a:ea typeface="Rubik"/>
                <a:cs typeface="Rubik"/>
              </a:rPr>
              <a:t>Combines selected Hyperliquid traders’ positions</a:t>
            </a:r>
          </a:p>
          <a:p xmlns:a="http://schemas.openxmlformats.org/drawingml/2006/main">
            <a:pPr algn="l">
              <a:defRPr sz="2100" b="0">
                <a:solidFill>
                  <a:srgbClr val="F4F0E4"/>
                </a:solidFill>
                <a:latin typeface="Rubik"/>
                <a:ea typeface="Rubik"/>
                <a:cs typeface="Rubik"/>
              </a:defRPr>
            </a:pPr>
            <a:r>
              <a:rPr sz="2100" b="0">
                <a:solidFill>
                  <a:srgbClr val="F4F0E4"/>
                </a:solidFill>
                <a:latin typeface="Rubik"/>
                <a:ea typeface="Rubik"/>
                <a:cs typeface="Rubik"/>
              </a:rPr>
              <a:t>into one portfolio plan.</a:t>
            </a:r>
          </a:p>
          <a:p xmlns:a="http://schemas.openxmlformats.org/drawingml/2006/main">
            <a:pPr algn="l">
              <a:defRPr sz="2100" b="0">
                <a:solidFill>
                  <a:srgbClr val="F4F0E4"/>
                </a:solidFill>
                <a:latin typeface="Rubik"/>
                <a:ea typeface="Rubik"/>
                <a:cs typeface="Rubik"/>
              </a:defRPr>
            </a:pPr>
            <a:r>
              <a:rPr sz="2100" b="0">
                <a:solidFill>
                  <a:srgbClr val="F4F0E4"/>
                </a:solidFill>
                <a:latin typeface="Rubik"/>
                <a:ea typeface="Rubik"/>
                <a:cs typeface="Rubik"/>
              </a:rPr>
              <a:t>See who contributes and how the plan changes.</a:t>
            </a:r>
          </a:p>
        </p:txBody>
      </p:sp>
      <p:sp>
        <p:nvSpPr>
          <p:cNvPr id="7" name="">
            <a:extLst xmlns:a="http://schemas.openxmlformats.org/drawingml/2006/main">
              <a:ext uri="{FF2B5EF4-FFF2-40B4-BE49-F238E27FC236}">
                <a16:creationId xmlns:a16="http://schemas.microsoft.com/office/drawing/2014/main" id="{5C613071-C324-4EE7-9883-BA7C56692A3E}"/>
              </a:ext>
            </a:extLst>
          </p:cNvPr>
          <p:cNvSpPr>
            <a:spLocks xmlns:a="http://schemas.openxmlformats.org/drawingml/2006/main" noGrp="1"/>
          </p:cNvSpPr>
          <p:nvPr/>
        </p:nvSpPr>
        <p:spPr>
          <a:xfrm xmlns:a="http://schemas.openxmlformats.org/drawingml/2006/main">
            <a:off x="609600" y="5791200"/>
            <a:ext cx="723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0">
                <a:solidFill>
                  <a:srgbClr val="CBD9C8"/>
                </a:solidFill>
                <a:latin typeface="Rubik"/>
                <a:ea typeface="Rubik"/>
                <a:cs typeface="Rubik"/>
              </a:defRPr>
            </a:pPr>
            <a:r>
              <a:rPr sz="1650" b="0">
                <a:solidFill>
                  <a:srgbClr val="CBD9C8"/>
                </a:solidFill>
                <a:latin typeface="Rubik"/>
                <a:ea typeface="Rubik"/>
                <a:cs typeface="Rubik"/>
              </a:rPr>
              <a:t>For traders watching several accounts</a:t>
            </a:r>
          </a:p>
        </p:txBody>
      </p:sp>
      <p:sp>
        <p:nvSpPr>
          <p:cNvPr id="8" name="">
            <a:extLst xmlns:a="http://schemas.openxmlformats.org/drawingml/2006/main">
              <a:ext uri="{FF2B5EF4-FFF2-40B4-BE49-F238E27FC236}">
                <a16:creationId xmlns:a16="http://schemas.microsoft.com/office/drawing/2014/main" id="{1106B78C-1FED-4FEC-BC59-EA8DA4DC1774}"/>
              </a:ext>
            </a:extLst>
          </p:cNvPr>
          <p:cNvSpPr>
            <a:spLocks xmlns:a="http://schemas.openxmlformats.org/drawingml/2006/main" noGrp="1"/>
          </p:cNvSpPr>
          <p:nvPr/>
        </p:nvSpPr>
        <p:spPr>
          <a:xfrm xmlns:a="http://schemas.openxmlformats.org/drawingml/2006/main">
            <a:off x="609600" y="6248400"/>
            <a:ext cx="10039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425" b="0">
                <a:solidFill>
                  <a:srgbClr val="CBD9C8"/>
                </a:solidFill>
                <a:latin typeface="Rubik"/>
                <a:ea typeface="Rubik"/>
                <a:cs typeface="Rubik"/>
              </a:defRPr>
            </a:pPr>
            <a:r>
              <a:rPr sz="1425" b="0">
                <a:solidFill>
                  <a:srgbClr val="CBD9C8"/>
                </a:solidFill>
                <a:latin typeface="Rubik"/>
                <a:ea typeface="Rubik"/>
                <a:cs typeface="Rubik"/>
              </a:rPr>
              <a:t>QuantFun / Read-only paper demo</a:t>
            </a:r>
          </a:p>
        </p:txBody>
      </p:sp>
    </p:spTree>
    <p:extLst>
      <p:ext uri="{BB962C8B-B14F-4D97-AF65-F5344CB8AC3E}">
        <p14:creationId xmlns:p14="http://schemas.microsoft.com/office/powerpoint/2010/main" val="605669008"/>
      </p:ext>
    </p:extLst>
  </p:cSld>
</p:sld>
</file>

<file path=ppt/slides/slide2.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CDF2594-A50F-4C59-AB71-E0F148751E0D}"/>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The question</a:t>
            </a:r>
          </a:p>
        </p:txBody>
      </p:sp>
      <p:sp>
        <p:nvSpPr>
          <p:cNvPr id="2" name="">
            <a:extLst xmlns:a="http://schemas.openxmlformats.org/drawingml/2006/main">
              <a:ext uri="{FF2B5EF4-FFF2-40B4-BE49-F238E27FC236}">
                <a16:creationId xmlns:a16="http://schemas.microsoft.com/office/drawing/2014/main" id="{EC39A054-A2FA-4959-B4C6-1DCB3B16ED96}"/>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02</a:t>
            </a:r>
          </a:p>
        </p:txBody>
      </p:sp>
      <p:sp>
        <p:nvSpPr>
          <p:cNvPr id="3" name="">
            <a:extLst xmlns:a="http://schemas.openxmlformats.org/drawingml/2006/main">
              <a:ext uri="{FF2B5EF4-FFF2-40B4-BE49-F238E27FC236}">
                <a16:creationId xmlns:a16="http://schemas.microsoft.com/office/drawing/2014/main" id="{D2C70E89-4E55-4F73-8712-3C4FD2467B63}"/>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Three accounts.</a:t>
            </a:r>
          </a:p>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The combined position is still unclear.</a:t>
            </a:r>
          </a:p>
        </p:txBody>
      </p:sp>
      <p:sp>
        <p:nvSpPr>
          <p:cNvPr id="4" name="">
            <a:extLst xmlns:a="http://schemas.openxmlformats.org/drawingml/2006/main">
              <a:ext uri="{FF2B5EF4-FFF2-40B4-BE49-F238E27FC236}">
                <a16:creationId xmlns:a16="http://schemas.microsoft.com/office/drawing/2014/main" id="{0C95751F-F4B6-45E1-AE95-94C80E6B4BA7}"/>
              </a:ext>
            </a:extLst>
          </p:cNvPr>
          <p:cNvSpPr>
            <a:spLocks xmlns:a="http://schemas.openxmlformats.org/drawingml/2006/main" noGrp="1"/>
          </p:cNvSpPr>
          <p:nvPr/>
        </p:nvSpPr>
        <p:spPr>
          <a:xfrm xmlns:a="http://schemas.openxmlformats.org/drawingml/2006/main">
            <a:off x="609600" y="20383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657567"/>
                </a:solidFill>
                <a:latin typeface="Rubik"/>
                <a:ea typeface="Rubik"/>
                <a:cs typeface="Rubik"/>
              </a:defRPr>
            </a:pPr>
            <a:r>
              <a:rPr sz="2025" b="0">
                <a:solidFill>
                  <a:srgbClr val="657567"/>
                </a:solidFill>
                <a:latin typeface="Rubik"/>
                <a:ea typeface="Rubik"/>
                <a:cs typeface="Rubik"/>
              </a:rPr>
              <a:t>A position is how much a trader holds long or short on an asset.</a:t>
            </a:r>
          </a:p>
        </p:txBody>
      </p:sp>
      <p:sp>
        <p:nvSpPr>
          <p:cNvPr id="5" name="">
            <a:extLst xmlns:a="http://schemas.openxmlformats.org/drawingml/2006/main">
              <a:ext uri="{FF2B5EF4-FFF2-40B4-BE49-F238E27FC236}">
                <a16:creationId xmlns:a16="http://schemas.microsoft.com/office/drawing/2014/main" id="{A3E46F1B-AC1D-4A81-AEA0-91D0693A02DE}"/>
              </a:ext>
            </a:extLst>
          </p:cNvPr>
          <p:cNvSpPr>
            <a:spLocks xmlns:a="http://schemas.openxmlformats.org/drawingml/2006/main" noGrp="1"/>
          </p:cNvSpPr>
          <p:nvPr/>
        </p:nvSpPr>
        <p:spPr>
          <a:xfrm xmlns:a="http://schemas.openxmlformats.org/drawingml/2006/main">
            <a:off x="609600" y="27813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Trader A</a:t>
            </a:r>
          </a:p>
        </p:txBody>
      </p:sp>
      <p:sp>
        <p:nvSpPr>
          <p:cNvPr id="6" name="">
            <a:extLst xmlns:a="http://schemas.openxmlformats.org/drawingml/2006/main">
              <a:ext uri="{FF2B5EF4-FFF2-40B4-BE49-F238E27FC236}">
                <a16:creationId xmlns:a16="http://schemas.microsoft.com/office/drawing/2014/main" id="{5564E730-F7C4-49C0-90F9-EFDA2687B645}"/>
              </a:ext>
            </a:extLst>
          </p:cNvPr>
          <p:cNvSpPr>
            <a:spLocks xmlns:a="http://schemas.openxmlformats.org/drawingml/2006/main" noGrp="1"/>
          </p:cNvSpPr>
          <p:nvPr/>
        </p:nvSpPr>
        <p:spPr>
          <a:xfrm xmlns:a="http://schemas.openxmlformats.org/drawingml/2006/main">
            <a:off x="609600" y="3333750"/>
            <a:ext cx="350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251C"/>
                </a:solidFill>
                <a:latin typeface="Rubik"/>
                <a:ea typeface="Rubik"/>
                <a:cs typeface="Rubik"/>
              </a:defRPr>
            </a:pPr>
            <a:r>
              <a:rPr sz="2850" b="0">
                <a:solidFill>
                  <a:srgbClr val="17251C"/>
                </a:solidFill>
                <a:latin typeface="Rubik"/>
                <a:ea typeface="Rubik"/>
                <a:cs typeface="Rubik"/>
              </a:rPr>
              <a:t>BTC</a:t>
            </a:r>
          </a:p>
        </p:txBody>
      </p:sp>
      <p:sp>
        <p:nvSpPr>
          <p:cNvPr id="7" name="">
            <a:extLst xmlns:a="http://schemas.openxmlformats.org/drawingml/2006/main">
              <a:ext uri="{FF2B5EF4-FFF2-40B4-BE49-F238E27FC236}">
                <a16:creationId xmlns:a16="http://schemas.microsoft.com/office/drawing/2014/main" id="{F6ED5C6D-AED8-4BCB-A266-9FAC6E8EAC81}"/>
              </a:ext>
            </a:extLst>
          </p:cNvPr>
          <p:cNvSpPr>
            <a:spLocks xmlns:a="http://schemas.openxmlformats.org/drawingml/2006/main" noGrp="1"/>
          </p:cNvSpPr>
          <p:nvPr/>
        </p:nvSpPr>
        <p:spPr>
          <a:xfrm xmlns:a="http://schemas.openxmlformats.org/drawingml/2006/main">
            <a:off x="609600" y="3943350"/>
            <a:ext cx="350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E98224"/>
                </a:solidFill>
                <a:latin typeface="Rubik"/>
                <a:ea typeface="Rubik"/>
                <a:cs typeface="Rubik"/>
              </a:defRPr>
            </a:pPr>
            <a:r>
              <a:rPr sz="4200" b="1">
                <a:solidFill>
                  <a:srgbClr val="E98224"/>
                </a:solidFill>
                <a:latin typeface="Rubik"/>
                <a:ea typeface="Rubik"/>
                <a:cs typeface="Rubik"/>
              </a:rPr>
              <a:t>+$600</a:t>
            </a:r>
          </a:p>
        </p:txBody>
      </p:sp>
      <p:sp>
        <p:nvSpPr>
          <p:cNvPr id="8" name="">
            <a:extLst xmlns:a="http://schemas.openxmlformats.org/drawingml/2006/main">
              <a:ext uri="{FF2B5EF4-FFF2-40B4-BE49-F238E27FC236}">
                <a16:creationId xmlns:a16="http://schemas.microsoft.com/office/drawing/2014/main" id="{C212CEC8-5F35-40D9-8EFB-32E7CFE0DA99}"/>
              </a:ext>
            </a:extLst>
          </p:cNvPr>
          <p:cNvSpPr>
            <a:spLocks xmlns:a="http://schemas.openxmlformats.org/drawingml/2006/main" noGrp="1"/>
          </p:cNvSpPr>
          <p:nvPr/>
        </p:nvSpPr>
        <p:spPr>
          <a:xfrm xmlns:a="http://schemas.openxmlformats.org/drawingml/2006/main">
            <a:off x="609600" y="4972050"/>
            <a:ext cx="350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57567"/>
                </a:solidFill>
                <a:latin typeface="Rubik"/>
                <a:ea typeface="Rubik"/>
                <a:cs typeface="Rubik"/>
              </a:defRPr>
            </a:pPr>
            <a:r>
              <a:rPr sz="1800" b="0">
                <a:solidFill>
                  <a:srgbClr val="657567"/>
                </a:solidFill>
                <a:latin typeface="Rubik"/>
                <a:ea typeface="Rubik"/>
                <a:cs typeface="Rubik"/>
              </a:rPr>
              <a:t>Long: benefits if BTC rises</a:t>
            </a:r>
          </a:p>
        </p:txBody>
      </p:sp>
      <p:sp>
        <p:nvSpPr>
          <p:cNvPr id="9" name="">
            <a:extLst xmlns:a="http://schemas.openxmlformats.org/drawingml/2006/main">
              <a:ext uri="{FF2B5EF4-FFF2-40B4-BE49-F238E27FC236}">
                <a16:creationId xmlns:a16="http://schemas.microsoft.com/office/drawing/2014/main" id="{9C385FBF-5B0C-4D00-ACD7-829B0B22C319}"/>
              </a:ext>
            </a:extLst>
          </p:cNvPr>
          <p:cNvSpPr>
            <a:spLocks xmlns:a="http://schemas.openxmlformats.org/drawingml/2006/main" noGrp="1"/>
          </p:cNvSpPr>
          <p:nvPr/>
        </p:nvSpPr>
        <p:spPr>
          <a:xfrm xmlns:a="http://schemas.openxmlformats.org/drawingml/2006/main">
            <a:off x="4343400" y="27813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Trader B</a:t>
            </a:r>
          </a:p>
        </p:txBody>
      </p:sp>
      <p:sp>
        <p:nvSpPr>
          <p:cNvPr id="10" name="">
            <a:extLst xmlns:a="http://schemas.openxmlformats.org/drawingml/2006/main">
              <a:ext uri="{FF2B5EF4-FFF2-40B4-BE49-F238E27FC236}">
                <a16:creationId xmlns:a16="http://schemas.microsoft.com/office/drawing/2014/main" id="{A51DB8E1-A89C-43C2-A368-9AA93A017852}"/>
              </a:ext>
            </a:extLst>
          </p:cNvPr>
          <p:cNvSpPr>
            <a:spLocks xmlns:a="http://schemas.openxmlformats.org/drawingml/2006/main" noGrp="1"/>
          </p:cNvSpPr>
          <p:nvPr/>
        </p:nvSpPr>
        <p:spPr>
          <a:xfrm xmlns:a="http://schemas.openxmlformats.org/drawingml/2006/main">
            <a:off x="4343400" y="3333750"/>
            <a:ext cx="350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251C"/>
                </a:solidFill>
                <a:latin typeface="Rubik"/>
                <a:ea typeface="Rubik"/>
                <a:cs typeface="Rubik"/>
              </a:defRPr>
            </a:pPr>
            <a:r>
              <a:rPr sz="2850" b="0">
                <a:solidFill>
                  <a:srgbClr val="17251C"/>
                </a:solidFill>
                <a:latin typeface="Rubik"/>
                <a:ea typeface="Rubik"/>
                <a:cs typeface="Rubik"/>
              </a:rPr>
              <a:t>BTC</a:t>
            </a:r>
          </a:p>
        </p:txBody>
      </p:sp>
      <p:sp>
        <p:nvSpPr>
          <p:cNvPr id="11" name="">
            <a:extLst xmlns:a="http://schemas.openxmlformats.org/drawingml/2006/main">
              <a:ext uri="{FF2B5EF4-FFF2-40B4-BE49-F238E27FC236}">
                <a16:creationId xmlns:a16="http://schemas.microsoft.com/office/drawing/2014/main" id="{77B8677D-BF71-47EE-A613-8A2EADCB6F17}"/>
              </a:ext>
            </a:extLst>
          </p:cNvPr>
          <p:cNvSpPr>
            <a:spLocks xmlns:a="http://schemas.openxmlformats.org/drawingml/2006/main" noGrp="1"/>
          </p:cNvSpPr>
          <p:nvPr/>
        </p:nvSpPr>
        <p:spPr>
          <a:xfrm xmlns:a="http://schemas.openxmlformats.org/drawingml/2006/main">
            <a:off x="4343400" y="3943350"/>
            <a:ext cx="350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BA4937"/>
                </a:solidFill>
                <a:latin typeface="Rubik"/>
                <a:ea typeface="Rubik"/>
                <a:cs typeface="Rubik"/>
              </a:defRPr>
            </a:pPr>
            <a:r>
              <a:rPr sz="4200" b="1">
                <a:solidFill>
                  <a:srgbClr val="BA4937"/>
                </a:solidFill>
                <a:latin typeface="Rubik"/>
                <a:ea typeface="Rubik"/>
                <a:cs typeface="Rubik"/>
              </a:rPr>
              <a:t>−$200</a:t>
            </a:r>
          </a:p>
        </p:txBody>
      </p:sp>
      <p:sp>
        <p:nvSpPr>
          <p:cNvPr id="12" name="">
            <a:extLst xmlns:a="http://schemas.openxmlformats.org/drawingml/2006/main">
              <a:ext uri="{FF2B5EF4-FFF2-40B4-BE49-F238E27FC236}">
                <a16:creationId xmlns:a16="http://schemas.microsoft.com/office/drawing/2014/main" id="{0564E05D-C190-4BA2-961A-7C531000AA9F}"/>
              </a:ext>
            </a:extLst>
          </p:cNvPr>
          <p:cNvSpPr>
            <a:spLocks xmlns:a="http://schemas.openxmlformats.org/drawingml/2006/main" noGrp="1"/>
          </p:cNvSpPr>
          <p:nvPr/>
        </p:nvSpPr>
        <p:spPr>
          <a:xfrm xmlns:a="http://schemas.openxmlformats.org/drawingml/2006/main">
            <a:off x="4343400" y="4972050"/>
            <a:ext cx="350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57567"/>
                </a:solidFill>
                <a:latin typeface="Rubik"/>
                <a:ea typeface="Rubik"/>
                <a:cs typeface="Rubik"/>
              </a:defRPr>
            </a:pPr>
            <a:r>
              <a:rPr sz="1800" b="0">
                <a:solidFill>
                  <a:srgbClr val="657567"/>
                </a:solidFill>
                <a:latin typeface="Rubik"/>
                <a:ea typeface="Rubik"/>
                <a:cs typeface="Rubik"/>
              </a:rPr>
              <a:t>Short: benefits if BTC falls</a:t>
            </a:r>
          </a:p>
        </p:txBody>
      </p:sp>
      <p:sp>
        <p:nvSpPr>
          <p:cNvPr id="13" name="">
            <a:extLst xmlns:a="http://schemas.openxmlformats.org/drawingml/2006/main">
              <a:ext uri="{FF2B5EF4-FFF2-40B4-BE49-F238E27FC236}">
                <a16:creationId xmlns:a16="http://schemas.microsoft.com/office/drawing/2014/main" id="{39F5CDDC-20D7-4649-9322-410ACC95E448}"/>
              </a:ext>
            </a:extLst>
          </p:cNvPr>
          <p:cNvSpPr>
            <a:spLocks xmlns:a="http://schemas.openxmlformats.org/drawingml/2006/main" noGrp="1"/>
          </p:cNvSpPr>
          <p:nvPr/>
        </p:nvSpPr>
        <p:spPr>
          <a:xfrm xmlns:a="http://schemas.openxmlformats.org/drawingml/2006/main">
            <a:off x="8077200" y="27813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Trader C</a:t>
            </a:r>
          </a:p>
        </p:txBody>
      </p:sp>
      <p:sp>
        <p:nvSpPr>
          <p:cNvPr id="14" name="">
            <a:extLst xmlns:a="http://schemas.openxmlformats.org/drawingml/2006/main">
              <a:ext uri="{FF2B5EF4-FFF2-40B4-BE49-F238E27FC236}">
                <a16:creationId xmlns:a16="http://schemas.microsoft.com/office/drawing/2014/main" id="{BBE5AC6F-8817-4504-BF8B-30332FBF7737}"/>
              </a:ext>
            </a:extLst>
          </p:cNvPr>
          <p:cNvSpPr>
            <a:spLocks xmlns:a="http://schemas.openxmlformats.org/drawingml/2006/main" noGrp="1"/>
          </p:cNvSpPr>
          <p:nvPr/>
        </p:nvSpPr>
        <p:spPr>
          <a:xfrm xmlns:a="http://schemas.openxmlformats.org/drawingml/2006/main">
            <a:off x="8077200" y="3333750"/>
            <a:ext cx="3505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850" b="0">
                <a:solidFill>
                  <a:srgbClr val="17251C"/>
                </a:solidFill>
                <a:latin typeface="Rubik"/>
                <a:ea typeface="Rubik"/>
                <a:cs typeface="Rubik"/>
              </a:defRPr>
            </a:pPr>
            <a:r>
              <a:rPr sz="2850" b="0">
                <a:solidFill>
                  <a:srgbClr val="17251C"/>
                </a:solidFill>
                <a:latin typeface="Rubik"/>
                <a:ea typeface="Rubik"/>
                <a:cs typeface="Rubik"/>
              </a:rPr>
              <a:t>BTC</a:t>
            </a:r>
          </a:p>
        </p:txBody>
      </p:sp>
      <p:sp>
        <p:nvSpPr>
          <p:cNvPr id="15" name="">
            <a:extLst xmlns:a="http://schemas.openxmlformats.org/drawingml/2006/main">
              <a:ext uri="{FF2B5EF4-FFF2-40B4-BE49-F238E27FC236}">
                <a16:creationId xmlns:a16="http://schemas.microsoft.com/office/drawing/2014/main" id="{E922CD55-1A42-4990-84B4-EA9C914574C4}"/>
              </a:ext>
            </a:extLst>
          </p:cNvPr>
          <p:cNvSpPr>
            <a:spLocks xmlns:a="http://schemas.openxmlformats.org/drawingml/2006/main" noGrp="1"/>
          </p:cNvSpPr>
          <p:nvPr/>
        </p:nvSpPr>
        <p:spPr>
          <a:xfrm xmlns:a="http://schemas.openxmlformats.org/drawingml/2006/main">
            <a:off x="8077200" y="3943350"/>
            <a:ext cx="3505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43A2B"/>
                </a:solidFill>
                <a:latin typeface="Rubik"/>
                <a:ea typeface="Rubik"/>
                <a:cs typeface="Rubik"/>
              </a:defRPr>
            </a:pPr>
            <a:r>
              <a:rPr sz="4200" b="1">
                <a:solidFill>
                  <a:srgbClr val="143A2B"/>
                </a:solidFill>
                <a:latin typeface="Rubik"/>
                <a:ea typeface="Rubik"/>
                <a:cs typeface="Rubik"/>
              </a:rPr>
              <a:t>+$400</a:t>
            </a:r>
          </a:p>
        </p:txBody>
      </p:sp>
      <p:sp>
        <p:nvSpPr>
          <p:cNvPr id="16" name="">
            <a:extLst xmlns:a="http://schemas.openxmlformats.org/drawingml/2006/main">
              <a:ext uri="{FF2B5EF4-FFF2-40B4-BE49-F238E27FC236}">
                <a16:creationId xmlns:a16="http://schemas.microsoft.com/office/drawing/2014/main" id="{3B7D3E5C-6FAB-457A-ADD0-75668E2955BB}"/>
              </a:ext>
            </a:extLst>
          </p:cNvPr>
          <p:cNvSpPr>
            <a:spLocks xmlns:a="http://schemas.openxmlformats.org/drawingml/2006/main" noGrp="1"/>
          </p:cNvSpPr>
          <p:nvPr/>
        </p:nvSpPr>
        <p:spPr>
          <a:xfrm xmlns:a="http://schemas.openxmlformats.org/drawingml/2006/main">
            <a:off x="8077200" y="4972050"/>
            <a:ext cx="350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57567"/>
                </a:solidFill>
                <a:latin typeface="Rubik"/>
                <a:ea typeface="Rubik"/>
                <a:cs typeface="Rubik"/>
              </a:defRPr>
            </a:pPr>
            <a:r>
              <a:rPr sz="1800" b="0">
                <a:solidFill>
                  <a:srgbClr val="657567"/>
                </a:solidFill>
                <a:latin typeface="Rubik"/>
                <a:ea typeface="Rubik"/>
                <a:cs typeface="Rubik"/>
              </a:rPr>
              <a:t>Long: benefits if BTC rises</a:t>
            </a:r>
          </a:p>
        </p:txBody>
      </p:sp>
      <p:sp>
        <p:nvSpPr>
          <p:cNvPr id="17" name="">
            <a:extLst xmlns:a="http://schemas.openxmlformats.org/drawingml/2006/main">
              <a:ext uri="{FF2B5EF4-FFF2-40B4-BE49-F238E27FC236}">
                <a16:creationId xmlns:a16="http://schemas.microsoft.com/office/drawing/2014/main" id="{432C27C8-45B3-42A8-AC00-453D6628103D}"/>
              </a:ext>
            </a:extLst>
          </p:cNvPr>
          <p:cNvSpPr>
            <a:spLocks xmlns:a="http://schemas.openxmlformats.org/drawingml/2006/main" noGrp="1"/>
          </p:cNvSpPr>
          <p:nvPr/>
        </p:nvSpPr>
        <p:spPr>
          <a:xfrm xmlns:a="http://schemas.openxmlformats.org/drawingml/2006/main">
            <a:off x="609600" y="56769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3A2B"/>
                </a:solidFill>
                <a:latin typeface="Rubik"/>
                <a:ea typeface="Rubik"/>
                <a:cs typeface="Rubik"/>
              </a:defRPr>
            </a:pPr>
            <a:r>
              <a:rPr sz="2100" b="0">
                <a:solidFill>
                  <a:srgbClr val="143A2B"/>
                </a:solidFill>
                <a:latin typeface="Rubik"/>
                <a:ea typeface="Rubik"/>
                <a:cs typeface="Rubik"/>
              </a:rPr>
              <a:t>A portfolio plan combines these positions across assets.</a:t>
            </a:r>
          </a:p>
        </p:txBody>
      </p:sp>
      <p:sp>
        <p:nvSpPr>
          <p:cNvPr id="18" name="">
            <a:extLst xmlns:a="http://schemas.openxmlformats.org/drawingml/2006/main">
              <a:ext uri="{FF2B5EF4-FFF2-40B4-BE49-F238E27FC236}">
                <a16:creationId xmlns:a16="http://schemas.microsoft.com/office/drawing/2014/main" id="{481D19B7-B2BD-4ABD-8140-633201335078}"/>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Illustrative contributions after weighting and normalization.</a:t>
            </a:r>
          </a:p>
        </p:txBody>
      </p:sp>
    </p:spTree>
    <p:extLst>
      <p:ext uri="{BB962C8B-B14F-4D97-AF65-F5344CB8AC3E}">
        <p14:creationId xmlns:p14="http://schemas.microsoft.com/office/powerpoint/2010/main" val="2116977711"/>
      </p:ext>
    </p:extLst>
  </p:cSld>
</p:sld>
</file>

<file path=ppt/slides/slide3.xml><?xml version="1.0" encoding="utf-8"?>
<p:sld xmlns:p="http://schemas.openxmlformats.org/presentationml/2006/main">
  <p:cSld>
    <p:bg>
      <p:bgPr>
        <a:solidFill xmlns:a="http://schemas.openxmlformats.org/drawingml/2006/main">
          <a:srgbClr val="143A2B"/>
        </a:solidFill>
      </p:bgPr>
    </p:bg>
    <p:spTree>
      <p:nvGrpSpPr>
        <p:cNvPr id="1" name=""/>
        <p:cNvGrpSpPr/>
        <p:nvPr/>
      </p:nvGrpSpPr>
      <p:grpSpPr>
        <a:xfrm xmlns:a="http://schemas.openxmlformats.org/drawingml/2006/main"/>
      </p:grpSpPr>
      <p:cxnSp>
        <p:nvCxnSpPr>
          <p:cNvPr id="21" name=""/>
          <p:cNvCxnSpPr>
            <a:stCxn xmlns:a="http://schemas.openxmlformats.org/drawingml/2006/main" id="13" idx="3"/>
            <a:endCxn xmlns:a="http://schemas.openxmlformats.org/drawingml/2006/main" id="14" idx="1"/>
          </p:cNvCxnSpPr>
          <p:nvPr/>
        </p:nvCxnSpPr>
        <p:spPr>
          <a:xfrm xmlns:a="http://schemas.openxmlformats.org/drawingml/2006/main" flipH="1">
            <a:off x="2857500" y="2210277"/>
            <a:ext cx="953" cy="2743200"/>
          </a:xfrm>
          <a:prstGeom xmlns:a="http://schemas.openxmlformats.org/drawingml/2006/main" prst="straightConnector1">
            <a:avLst/>
          </a:prstGeom>
          <a:ln xmlns:a="http://schemas.openxmlformats.org/drawingml/2006/main" w="28575">
            <a:solidFill>
              <a:srgbClr val="CBD9C8"/>
            </a:solidFill>
            <a:prstDash val="solid"/>
          </a:ln>
        </p:spPr>
      </p:cxnSp>
      <p:sp>
        <p:nvSpPr>
          <p:cNvPr id="22" name="">
            <a:extLst xmlns:a="http://schemas.openxmlformats.org/drawingml/2006/main">
              <a:ext uri="{FF2B5EF4-FFF2-40B4-BE49-F238E27FC236}">
                <a16:creationId xmlns:a16="http://schemas.microsoft.com/office/drawing/2014/main" id="{67FFE0E9-DEB6-42DE-8333-686DF743AA37}"/>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The answer</a:t>
            </a:r>
          </a:p>
        </p:txBody>
      </p:sp>
      <p:sp>
        <p:nvSpPr>
          <p:cNvPr id="2" name="">
            <a:extLst xmlns:a="http://schemas.openxmlformats.org/drawingml/2006/main">
              <a:ext uri="{FF2B5EF4-FFF2-40B4-BE49-F238E27FC236}">
                <a16:creationId xmlns:a16="http://schemas.microsoft.com/office/drawing/2014/main" id="{55942E63-21AB-44CB-BB5B-73425086E831}"/>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CBD9C8"/>
                </a:solidFill>
                <a:latin typeface="Rubik"/>
                <a:ea typeface="Rubik"/>
                <a:cs typeface="Rubik"/>
              </a:defRPr>
            </a:pPr>
            <a:r>
              <a:rPr sz="1350" b="0">
                <a:solidFill>
                  <a:srgbClr val="CBD9C8"/>
                </a:solidFill>
                <a:latin typeface="Rubik"/>
                <a:ea typeface="Rubik"/>
                <a:cs typeface="Rubik"/>
              </a:rPr>
              <a:t>03</a:t>
            </a:r>
          </a:p>
        </p:txBody>
      </p:sp>
      <p:sp>
        <p:nvSpPr>
          <p:cNvPr id="3" name="">
            <a:extLst xmlns:a="http://schemas.openxmlformats.org/drawingml/2006/main">
              <a:ext uri="{FF2B5EF4-FFF2-40B4-BE49-F238E27FC236}">
                <a16:creationId xmlns:a16="http://schemas.microsoft.com/office/drawing/2014/main" id="{FAAFF031-8126-436E-8B60-8773B9A99FF1}"/>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F4F0E4"/>
                </a:solidFill>
                <a:latin typeface="Athelas"/>
                <a:ea typeface="Athelas"/>
                <a:cs typeface="Athelas"/>
              </a:defRPr>
            </a:pPr>
            <a:r>
              <a:rPr sz="3750" b="0">
                <a:solidFill>
                  <a:srgbClr val="F4F0E4"/>
                </a:solidFill>
                <a:latin typeface="Athelas"/>
                <a:ea typeface="Athelas"/>
                <a:cs typeface="Athelas"/>
              </a:rPr>
              <a:t>One combined Bitcoin position</a:t>
            </a:r>
          </a:p>
        </p:txBody>
      </p:sp>
      <p:sp>
        <p:nvSpPr>
          <p:cNvPr id="4" name="">
            <a:extLst xmlns:a="http://schemas.openxmlformats.org/drawingml/2006/main">
              <a:ext uri="{FF2B5EF4-FFF2-40B4-BE49-F238E27FC236}">
                <a16:creationId xmlns:a16="http://schemas.microsoft.com/office/drawing/2014/main" id="{67F0AA38-6B98-456C-A53D-AA8616304C25}"/>
              </a:ext>
            </a:extLst>
          </p:cNvPr>
          <p:cNvSpPr>
            <a:spLocks xmlns:a="http://schemas.openxmlformats.org/drawingml/2006/main" noGrp="1"/>
          </p:cNvSpPr>
          <p:nvPr/>
        </p:nvSpPr>
        <p:spPr>
          <a:xfrm xmlns:a="http://schemas.openxmlformats.org/drawingml/2006/main">
            <a:off x="609600" y="24193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4F0E4"/>
                </a:solidFill>
                <a:latin typeface="Rubik"/>
                <a:ea typeface="Rubik"/>
                <a:cs typeface="Rubik"/>
              </a:defRPr>
            </a:pPr>
            <a:r>
              <a:rPr sz="2250" b="1">
                <a:solidFill>
                  <a:srgbClr val="F4F0E4"/>
                </a:solidFill>
                <a:latin typeface="Rubik"/>
                <a:ea typeface="Rubik"/>
                <a:cs typeface="Rubik"/>
              </a:rPr>
              <a:t>A</a:t>
            </a:r>
          </a:p>
        </p:txBody>
      </p:sp>
      <p:sp>
        <p:nvSpPr>
          <p:cNvPr id="5" name="">
            <a:extLst xmlns:a="http://schemas.openxmlformats.org/drawingml/2006/main">
              <a:ext uri="{FF2B5EF4-FFF2-40B4-BE49-F238E27FC236}">
                <a16:creationId xmlns:a16="http://schemas.microsoft.com/office/drawing/2014/main" id="{166A54F4-5BA0-45D0-88FD-A23D8CE4E1A1}"/>
              </a:ext>
            </a:extLst>
          </p:cNvPr>
          <p:cNvSpPr>
            <a:spLocks xmlns:a="http://schemas.openxmlformats.org/drawingml/2006/main" noGrp="1"/>
          </p:cNvSpPr>
          <p:nvPr/>
        </p:nvSpPr>
        <p:spPr>
          <a:xfrm xmlns:a="http://schemas.openxmlformats.org/drawingml/2006/main">
            <a:off x="2857500" y="2476500"/>
            <a:ext cx="2628900" cy="419100"/>
          </a:xfrm>
          <a:prstGeom xmlns:a="http://schemas.openxmlformats.org/drawingml/2006/main" prst="rect">
            <a:avLst/>
          </a:prstGeom>
          <a:solidFill xmlns:a="http://schemas.openxmlformats.org/drawingml/2006/main">
            <a:srgbClr val="E9822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F64F2B-DC8B-4DB8-9302-5E0669FCC361}"/>
              </a:ext>
            </a:extLst>
          </p:cNvPr>
          <p:cNvSpPr>
            <a:spLocks xmlns:a="http://schemas.openxmlformats.org/drawingml/2006/main" noGrp="1"/>
          </p:cNvSpPr>
          <p:nvPr/>
        </p:nvSpPr>
        <p:spPr>
          <a:xfrm xmlns:a="http://schemas.openxmlformats.org/drawingml/2006/main">
            <a:off x="5810250" y="24193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E98224"/>
                </a:solidFill>
                <a:latin typeface="Rubik"/>
                <a:ea typeface="Rubik"/>
                <a:cs typeface="Rubik"/>
              </a:defRPr>
            </a:pPr>
            <a:r>
              <a:rPr sz="2250" b="1">
                <a:solidFill>
                  <a:srgbClr val="E98224"/>
                </a:solidFill>
                <a:latin typeface="Rubik"/>
                <a:ea typeface="Rubik"/>
                <a:cs typeface="Rubik"/>
              </a:rPr>
              <a:t>+$600</a:t>
            </a:r>
          </a:p>
        </p:txBody>
      </p:sp>
      <p:sp>
        <p:nvSpPr>
          <p:cNvPr id="7" name="">
            <a:extLst xmlns:a="http://schemas.openxmlformats.org/drawingml/2006/main">
              <a:ext uri="{FF2B5EF4-FFF2-40B4-BE49-F238E27FC236}">
                <a16:creationId xmlns:a16="http://schemas.microsoft.com/office/drawing/2014/main" id="{30EC5D0D-2D83-4B0D-9EEE-BD4E0BF22D81}"/>
              </a:ext>
            </a:extLst>
          </p:cNvPr>
          <p:cNvSpPr>
            <a:spLocks xmlns:a="http://schemas.openxmlformats.org/drawingml/2006/main" noGrp="1"/>
          </p:cNvSpPr>
          <p:nvPr/>
        </p:nvSpPr>
        <p:spPr>
          <a:xfrm xmlns:a="http://schemas.openxmlformats.org/drawingml/2006/main">
            <a:off x="609600" y="34099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4F0E4"/>
                </a:solidFill>
                <a:latin typeface="Rubik"/>
                <a:ea typeface="Rubik"/>
                <a:cs typeface="Rubik"/>
              </a:defRPr>
            </a:pPr>
            <a:r>
              <a:rPr sz="2250" b="1">
                <a:solidFill>
                  <a:srgbClr val="F4F0E4"/>
                </a:solidFill>
                <a:latin typeface="Rubik"/>
                <a:ea typeface="Rubik"/>
                <a:cs typeface="Rubik"/>
              </a:rPr>
              <a:t>B</a:t>
            </a:r>
          </a:p>
        </p:txBody>
      </p:sp>
      <p:sp>
        <p:nvSpPr>
          <p:cNvPr id="8" name="">
            <a:extLst xmlns:a="http://schemas.openxmlformats.org/drawingml/2006/main">
              <a:ext uri="{FF2B5EF4-FFF2-40B4-BE49-F238E27FC236}">
                <a16:creationId xmlns:a16="http://schemas.microsoft.com/office/drawing/2014/main" id="{4E0986B6-6C02-4FD0-83B5-D9DBBCCDE5DD}"/>
              </a:ext>
            </a:extLst>
          </p:cNvPr>
          <p:cNvSpPr>
            <a:spLocks xmlns:a="http://schemas.openxmlformats.org/drawingml/2006/main" noGrp="1"/>
          </p:cNvSpPr>
          <p:nvPr/>
        </p:nvSpPr>
        <p:spPr>
          <a:xfrm xmlns:a="http://schemas.openxmlformats.org/drawingml/2006/main">
            <a:off x="1981200" y="3467100"/>
            <a:ext cx="876300" cy="419100"/>
          </a:xfrm>
          <a:prstGeom xmlns:a="http://schemas.openxmlformats.org/drawingml/2006/main" prst="rect">
            <a:avLst/>
          </a:prstGeom>
          <a:solidFill xmlns:a="http://schemas.openxmlformats.org/drawingml/2006/main">
            <a:srgbClr val="BA493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79BA109-3723-4140-9EA0-0CD9CF898B40}"/>
              </a:ext>
            </a:extLst>
          </p:cNvPr>
          <p:cNvSpPr>
            <a:spLocks xmlns:a="http://schemas.openxmlformats.org/drawingml/2006/main" noGrp="1"/>
          </p:cNvSpPr>
          <p:nvPr/>
        </p:nvSpPr>
        <p:spPr>
          <a:xfrm xmlns:a="http://schemas.openxmlformats.org/drawingml/2006/main">
            <a:off x="5810250" y="34099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A4937"/>
                </a:solidFill>
                <a:latin typeface="Rubik"/>
                <a:ea typeface="Rubik"/>
                <a:cs typeface="Rubik"/>
              </a:defRPr>
            </a:pPr>
            <a:r>
              <a:rPr sz="2250" b="1">
                <a:solidFill>
                  <a:srgbClr val="BA4937"/>
                </a:solidFill>
                <a:latin typeface="Rubik"/>
                <a:ea typeface="Rubik"/>
                <a:cs typeface="Rubik"/>
              </a:rPr>
              <a:t>−$200</a:t>
            </a:r>
          </a:p>
        </p:txBody>
      </p:sp>
      <p:sp>
        <p:nvSpPr>
          <p:cNvPr id="10" name="">
            <a:extLst xmlns:a="http://schemas.openxmlformats.org/drawingml/2006/main">
              <a:ext uri="{FF2B5EF4-FFF2-40B4-BE49-F238E27FC236}">
                <a16:creationId xmlns:a16="http://schemas.microsoft.com/office/drawing/2014/main" id="{B96A86B4-3686-45DF-9951-2D3FE74CA78E}"/>
              </a:ext>
            </a:extLst>
          </p:cNvPr>
          <p:cNvSpPr>
            <a:spLocks xmlns:a="http://schemas.openxmlformats.org/drawingml/2006/main" noGrp="1"/>
          </p:cNvSpPr>
          <p:nvPr/>
        </p:nvSpPr>
        <p:spPr>
          <a:xfrm xmlns:a="http://schemas.openxmlformats.org/drawingml/2006/main">
            <a:off x="609600" y="44005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4F0E4"/>
                </a:solidFill>
                <a:latin typeface="Rubik"/>
                <a:ea typeface="Rubik"/>
                <a:cs typeface="Rubik"/>
              </a:defRPr>
            </a:pPr>
            <a:r>
              <a:rPr sz="2250" b="1">
                <a:solidFill>
                  <a:srgbClr val="F4F0E4"/>
                </a:solidFill>
                <a:latin typeface="Rubik"/>
                <a:ea typeface="Rubik"/>
                <a:cs typeface="Rubik"/>
              </a:rPr>
              <a:t>C</a:t>
            </a:r>
          </a:p>
        </p:txBody>
      </p:sp>
      <p:sp>
        <p:nvSpPr>
          <p:cNvPr id="11" name="">
            <a:extLst xmlns:a="http://schemas.openxmlformats.org/drawingml/2006/main">
              <a:ext uri="{FF2B5EF4-FFF2-40B4-BE49-F238E27FC236}">
                <a16:creationId xmlns:a16="http://schemas.microsoft.com/office/drawing/2014/main" id="{D4251802-69E2-4427-B336-D0D61E034385}"/>
              </a:ext>
            </a:extLst>
          </p:cNvPr>
          <p:cNvSpPr>
            <a:spLocks xmlns:a="http://schemas.openxmlformats.org/drawingml/2006/main" noGrp="1"/>
          </p:cNvSpPr>
          <p:nvPr/>
        </p:nvSpPr>
        <p:spPr>
          <a:xfrm xmlns:a="http://schemas.openxmlformats.org/drawingml/2006/main">
            <a:off x="2857500" y="4457700"/>
            <a:ext cx="1752600" cy="419100"/>
          </a:xfrm>
          <a:prstGeom xmlns:a="http://schemas.openxmlformats.org/drawingml/2006/main" prst="rect">
            <a:avLst/>
          </a:prstGeom>
          <a:solidFill xmlns:a="http://schemas.openxmlformats.org/drawingml/2006/main">
            <a:srgbClr val="CBD9C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2419B60-C2D4-4E57-87FB-8E52D9CEBFA8}"/>
              </a:ext>
            </a:extLst>
          </p:cNvPr>
          <p:cNvSpPr>
            <a:spLocks xmlns:a="http://schemas.openxmlformats.org/drawingml/2006/main" noGrp="1"/>
          </p:cNvSpPr>
          <p:nvPr/>
        </p:nvSpPr>
        <p:spPr>
          <a:xfrm xmlns:a="http://schemas.openxmlformats.org/drawingml/2006/main">
            <a:off x="5810250" y="44005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CBD9C8"/>
                </a:solidFill>
                <a:latin typeface="Rubik"/>
                <a:ea typeface="Rubik"/>
                <a:cs typeface="Rubik"/>
              </a:defRPr>
            </a:pPr>
            <a:r>
              <a:rPr sz="2250" b="1">
                <a:solidFill>
                  <a:srgbClr val="CBD9C8"/>
                </a:solidFill>
                <a:latin typeface="Rubik"/>
                <a:ea typeface="Rubik"/>
                <a:cs typeface="Rubik"/>
              </a:rPr>
              <a:t>+$400</a:t>
            </a:r>
          </a:p>
        </p:txBody>
      </p:sp>
      <p:sp>
        <p:nvSpPr>
          <p:cNvPr id="13" name="">
            <a:extLst xmlns:a="http://schemas.openxmlformats.org/drawingml/2006/main">
              <a:ext uri="{FF2B5EF4-FFF2-40B4-BE49-F238E27FC236}">
                <a16:creationId xmlns:a16="http://schemas.microsoft.com/office/drawing/2014/main" id="{4A2F6371-DCA9-44DF-84AA-77F44EB71364}"/>
              </a:ext>
            </a:extLst>
          </p:cNvPr>
          <p:cNvSpPr>
            <a:spLocks xmlns:a="http://schemas.openxmlformats.org/drawingml/2006/main" noGrp="1"/>
          </p:cNvSpPr>
          <p:nvPr/>
        </p:nvSpPr>
        <p:spPr>
          <a:xfrm xmlns:a="http://schemas.openxmlformats.org/drawingml/2006/main">
            <a:off x="2857500" y="2209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22311C7-6191-44B0-9C61-D4F8C190F008}"/>
              </a:ext>
            </a:extLst>
          </p:cNvPr>
          <p:cNvSpPr>
            <a:spLocks xmlns:a="http://schemas.openxmlformats.org/drawingml/2006/main" noGrp="1"/>
          </p:cNvSpPr>
          <p:nvPr/>
        </p:nvSpPr>
        <p:spPr>
          <a:xfrm xmlns:a="http://schemas.openxmlformats.org/drawingml/2006/main">
            <a:off x="2857500" y="49530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553C32D-354A-4B8C-801E-B8C0FD918286}"/>
              </a:ext>
            </a:extLst>
          </p:cNvPr>
          <p:cNvSpPr>
            <a:spLocks xmlns:a="http://schemas.openxmlformats.org/drawingml/2006/main" noGrp="1"/>
          </p:cNvSpPr>
          <p:nvPr/>
        </p:nvSpPr>
        <p:spPr>
          <a:xfrm xmlns:a="http://schemas.openxmlformats.org/drawingml/2006/main">
            <a:off x="7905750" y="2514600"/>
            <a:ext cx="36766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6600" b="1">
                <a:solidFill>
                  <a:srgbClr val="F7C948"/>
                </a:solidFill>
                <a:latin typeface="Rubik"/>
                <a:ea typeface="Rubik"/>
                <a:cs typeface="Rubik"/>
              </a:defRPr>
            </a:pPr>
            <a:r>
              <a:rPr sz="6600" b="1">
                <a:solidFill>
                  <a:srgbClr val="F7C948"/>
                </a:solidFill>
                <a:latin typeface="Rubik"/>
                <a:ea typeface="Rubik"/>
                <a:cs typeface="Rubik"/>
              </a:rPr>
              <a:t>+$800</a:t>
            </a:r>
          </a:p>
        </p:txBody>
      </p:sp>
      <p:sp>
        <p:nvSpPr>
          <p:cNvPr id="17" name="">
            <a:extLst xmlns:a="http://schemas.openxmlformats.org/drawingml/2006/main">
              <a:ext uri="{FF2B5EF4-FFF2-40B4-BE49-F238E27FC236}">
                <a16:creationId xmlns:a16="http://schemas.microsoft.com/office/drawing/2014/main" id="{7DEC57CE-7DA5-4E0C-8797-36008B1E3E4F}"/>
              </a:ext>
            </a:extLst>
          </p:cNvPr>
          <p:cNvSpPr>
            <a:spLocks xmlns:a="http://schemas.openxmlformats.org/drawingml/2006/main" noGrp="1"/>
          </p:cNvSpPr>
          <p:nvPr/>
        </p:nvSpPr>
        <p:spPr>
          <a:xfrm xmlns:a="http://schemas.openxmlformats.org/drawingml/2006/main">
            <a:off x="7905750" y="3829050"/>
            <a:ext cx="36766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F4F0E4"/>
                </a:solidFill>
                <a:latin typeface="Rubik"/>
                <a:ea typeface="Rubik"/>
                <a:cs typeface="Rubik"/>
              </a:defRPr>
            </a:pPr>
            <a:r>
              <a:rPr sz="2550" b="1">
                <a:solidFill>
                  <a:srgbClr val="F4F0E4"/>
                </a:solidFill>
                <a:latin typeface="Rubik"/>
                <a:ea typeface="Rubik"/>
                <a:cs typeface="Rubik"/>
              </a:rPr>
              <a:t>Planned Bitcoin</a:t>
            </a:r>
          </a:p>
          <a:p xmlns:a="http://schemas.openxmlformats.org/drawingml/2006/main">
            <a:pPr algn="l">
              <a:defRPr sz="2550" b="1">
                <a:solidFill>
                  <a:srgbClr val="F4F0E4"/>
                </a:solidFill>
                <a:latin typeface="Rubik"/>
                <a:ea typeface="Rubik"/>
                <a:cs typeface="Rubik"/>
              </a:defRPr>
            </a:pPr>
            <a:r>
              <a:rPr sz="2550" b="1">
                <a:solidFill>
                  <a:srgbClr val="F4F0E4"/>
                </a:solidFill>
                <a:latin typeface="Rubik"/>
                <a:ea typeface="Rubik"/>
                <a:cs typeface="Rubik"/>
              </a:rPr>
              <a:t>position</a:t>
            </a:r>
          </a:p>
        </p:txBody>
      </p:sp>
      <p:sp>
        <p:nvSpPr>
          <p:cNvPr id="18" name="">
            <a:extLst xmlns:a="http://schemas.openxmlformats.org/drawingml/2006/main">
              <a:ext uri="{FF2B5EF4-FFF2-40B4-BE49-F238E27FC236}">
                <a16:creationId xmlns:a16="http://schemas.microsoft.com/office/drawing/2014/main" id="{567D4263-A665-4EDF-9670-214AB6E9A5ED}"/>
              </a:ext>
            </a:extLst>
          </p:cNvPr>
          <p:cNvSpPr>
            <a:spLocks xmlns:a="http://schemas.openxmlformats.org/drawingml/2006/main" noGrp="1"/>
          </p:cNvSpPr>
          <p:nvPr/>
        </p:nvSpPr>
        <p:spPr>
          <a:xfrm xmlns:a="http://schemas.openxmlformats.org/drawingml/2006/main">
            <a:off x="609600" y="521970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1">
                <a:solidFill>
                  <a:srgbClr val="F4F0E4"/>
                </a:solidFill>
                <a:latin typeface="Rubik"/>
                <a:ea typeface="Rubik"/>
                <a:cs typeface="Rubik"/>
              </a:defRPr>
            </a:pPr>
            <a:r>
              <a:rPr sz="2550" b="1">
                <a:solidFill>
                  <a:srgbClr val="F4F0E4"/>
                </a:solidFill>
                <a:latin typeface="Rubik"/>
                <a:ea typeface="Rubik"/>
                <a:cs typeface="Rubik"/>
              </a:rPr>
              <a:t>$600 − $200 + $400 = $800</a:t>
            </a:r>
          </a:p>
        </p:txBody>
      </p:sp>
      <p:sp>
        <p:nvSpPr>
          <p:cNvPr id="19" name="">
            <a:extLst xmlns:a="http://schemas.openxmlformats.org/drawingml/2006/main">
              <a:ext uri="{FF2B5EF4-FFF2-40B4-BE49-F238E27FC236}">
                <a16:creationId xmlns:a16="http://schemas.microsoft.com/office/drawing/2014/main" id="{04840135-9BD7-4529-B6D7-C8B3FFD762E5}"/>
              </a:ext>
            </a:extLst>
          </p:cNvPr>
          <p:cNvSpPr>
            <a:spLocks xmlns:a="http://schemas.openxmlformats.org/drawingml/2006/main" noGrp="1"/>
          </p:cNvSpPr>
          <p:nvPr/>
        </p:nvSpPr>
        <p:spPr>
          <a:xfrm xmlns:a="http://schemas.openxmlformats.org/drawingml/2006/main">
            <a:off x="609600" y="57531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CBD9C8"/>
                </a:solidFill>
                <a:latin typeface="Rubik"/>
                <a:ea typeface="Rubik"/>
                <a:cs typeface="Rubik"/>
              </a:defRPr>
            </a:pPr>
            <a:r>
              <a:rPr sz="1950" b="0">
                <a:solidFill>
                  <a:srgbClr val="CBD9C8"/>
                </a:solidFill>
                <a:latin typeface="Rubik"/>
                <a:ea typeface="Rubik"/>
                <a:cs typeface="Rubik"/>
              </a:rPr>
              <a:t>The short offsets part of the two long positions.</a:t>
            </a:r>
          </a:p>
        </p:txBody>
      </p:sp>
      <p:sp>
        <p:nvSpPr>
          <p:cNvPr id="20" name="">
            <a:extLst xmlns:a="http://schemas.openxmlformats.org/drawingml/2006/main">
              <a:ext uri="{FF2B5EF4-FFF2-40B4-BE49-F238E27FC236}">
                <a16:creationId xmlns:a16="http://schemas.microsoft.com/office/drawing/2014/main" id="{A2689EF9-08E7-4274-8BAA-DF660FE9AACF}"/>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Illustration, not current account data. A plan is not a filled trade.</a:t>
            </a:r>
          </a:p>
        </p:txBody>
      </p:sp>
    </p:spTree>
    <p:extLst>
      <p:ext uri="{BB962C8B-B14F-4D97-AF65-F5344CB8AC3E}">
        <p14:creationId xmlns:p14="http://schemas.microsoft.com/office/powerpoint/2010/main" val="1352285204"/>
      </p:ext>
    </p:extLst>
  </p:cSld>
</p:sld>
</file>

<file path=ppt/slides/slide4.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A704E61-04D7-42E8-A9D5-A5B9270E48F6}"/>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The real demo</a:t>
            </a:r>
          </a:p>
        </p:txBody>
      </p:sp>
      <p:sp>
        <p:nvSpPr>
          <p:cNvPr id="2" name="">
            <a:extLst xmlns:a="http://schemas.openxmlformats.org/drawingml/2006/main">
              <a:ext uri="{FF2B5EF4-FFF2-40B4-BE49-F238E27FC236}">
                <a16:creationId xmlns:a16="http://schemas.microsoft.com/office/drawing/2014/main" id="{E45976D5-6F33-4479-9B4F-4EF9B22052DA}"/>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04</a:t>
            </a:r>
          </a:p>
        </p:txBody>
      </p:sp>
      <p:sp>
        <p:nvSpPr>
          <p:cNvPr id="3" name="">
            <a:extLst xmlns:a="http://schemas.openxmlformats.org/drawingml/2006/main">
              <a:ext uri="{FF2B5EF4-FFF2-40B4-BE49-F238E27FC236}">
                <a16:creationId xmlns:a16="http://schemas.microsoft.com/office/drawing/2014/main" id="{ADFB548F-221B-4DF5-9D03-9AFBB960D97B}"/>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The plan shows its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c4affe0a8fd45a0"/>
          <a:srcRect xmlns:a="http://schemas.openxmlformats.org/drawingml/2006/main" l="0" t="59385" r="0" b="6462"/>
          <a:stretch xmlns:a="http://schemas.openxmlformats.org/drawingml/2006/main"/>
        </p:blipFill>
        <p:spPr>
          <a:xfrm xmlns:a="http://schemas.openxmlformats.org/drawingml/2006/main">
            <a:off x="1828800" y="1943100"/>
            <a:ext cx="8534400" cy="324974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0724200-AEC2-4F30-B2DE-95CD236801C9}"/>
              </a:ext>
            </a:extLst>
          </p:cNvPr>
          <p:cNvSpPr>
            <a:spLocks xmlns:a="http://schemas.openxmlformats.org/drawingml/2006/main" noGrp="1"/>
          </p:cNvSpPr>
          <p:nvPr/>
        </p:nvSpPr>
        <p:spPr>
          <a:xfrm xmlns:a="http://schemas.openxmlformats.org/drawingml/2006/main">
            <a:off x="1828800" y="5410200"/>
            <a:ext cx="4000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6 selected sources</a:t>
            </a:r>
          </a:p>
        </p:txBody>
      </p:sp>
      <p:sp>
        <p:nvSpPr>
          <p:cNvPr id="6" name="">
            <a:extLst xmlns:a="http://schemas.openxmlformats.org/drawingml/2006/main">
              <a:ext uri="{FF2B5EF4-FFF2-40B4-BE49-F238E27FC236}">
                <a16:creationId xmlns:a16="http://schemas.microsoft.com/office/drawing/2014/main" id="{BDB25934-C72E-44AF-868F-E99257F2F547}"/>
              </a:ext>
            </a:extLst>
          </p:cNvPr>
          <p:cNvSpPr>
            <a:spLocks xmlns:a="http://schemas.openxmlformats.org/drawingml/2006/main" noGrp="1"/>
          </p:cNvSpPr>
          <p:nvPr/>
        </p:nvSpPr>
        <p:spPr>
          <a:xfrm xmlns:a="http://schemas.openxmlformats.org/drawingml/2006/main">
            <a:off x="6210300" y="5410200"/>
            <a:ext cx="4152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43A2B"/>
                </a:solidFill>
                <a:latin typeface="Rubik"/>
                <a:ea typeface="Rubik"/>
                <a:cs typeface="Rubik"/>
              </a:defRPr>
            </a:pPr>
            <a:r>
              <a:rPr sz="2250" b="1">
                <a:solidFill>
                  <a:srgbClr val="143A2B"/>
                </a:solidFill>
                <a:latin typeface="Rubik"/>
                <a:ea typeface="Rubik"/>
                <a:cs typeface="Rubik"/>
              </a:rPr>
              <a:t>Largest share: 23.2%</a:t>
            </a:r>
          </a:p>
        </p:txBody>
      </p:sp>
      <p:sp>
        <p:nvSpPr>
          <p:cNvPr id="7" name="">
            <a:extLst xmlns:a="http://schemas.openxmlformats.org/drawingml/2006/main">
              <a:ext uri="{FF2B5EF4-FFF2-40B4-BE49-F238E27FC236}">
                <a16:creationId xmlns:a16="http://schemas.microsoft.com/office/drawing/2014/main" id="{5E654F17-78F8-4716-842A-FF051E5E8BC9}"/>
              </a:ext>
            </a:extLst>
          </p:cNvPr>
          <p:cNvSpPr>
            <a:spLocks xmlns:a="http://schemas.openxmlformats.org/drawingml/2006/main" noGrp="1"/>
          </p:cNvSpPr>
          <p:nvPr/>
        </p:nvSpPr>
        <p:spPr>
          <a:xfrm xmlns:a="http://schemas.openxmlformats.org/drawingml/2006/main">
            <a:off x="1828800" y="5867400"/>
            <a:ext cx="853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657567"/>
                </a:solidFill>
                <a:latin typeface="Rubik"/>
                <a:ea typeface="Rubik"/>
                <a:cs typeface="Rubik"/>
              </a:defRPr>
            </a:pPr>
            <a:r>
              <a:rPr sz="1800" b="0">
                <a:solidFill>
                  <a:srgbClr val="657567"/>
                </a:solidFill>
                <a:latin typeface="Rubik"/>
                <a:ea typeface="Rubik"/>
                <a:cs typeface="Rubik"/>
              </a:rPr>
              <a:t>A share weights a trader’s positions before the plan is combined.</a:t>
            </a:r>
          </a:p>
        </p:txBody>
      </p:sp>
      <p:sp>
        <p:nvSpPr>
          <p:cNvPr id="8" name="">
            <a:extLst xmlns:a="http://schemas.openxmlformats.org/drawingml/2006/main">
              <a:ext uri="{FF2B5EF4-FFF2-40B4-BE49-F238E27FC236}">
                <a16:creationId xmlns:a16="http://schemas.microsoft.com/office/drawing/2014/main" id="{CCE910BB-71C9-429B-87C7-9E1418505CAC}"/>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Actual earlier paper capture. 7 October, run 15:30 SGT. Read-only demo.</a:t>
            </a:r>
          </a:p>
        </p:txBody>
      </p:sp>
    </p:spTree>
    <p:extLst>
      <p:ext uri="{BB962C8B-B14F-4D97-AF65-F5344CB8AC3E}">
        <p14:creationId xmlns:p14="http://schemas.microsoft.com/office/powerpoint/2010/main" val="1255562184"/>
      </p:ext>
    </p:extLst>
  </p:cSld>
</p:sld>
</file>

<file path=ppt/slides/slide5.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cxnSp>
        <p:nvCxnSpPr>
          <p:cNvPr id="17" name=""/>
          <p:cNvCxnSpPr>
            <a:stCxn xmlns:a="http://schemas.openxmlformats.org/drawingml/2006/main" id="10" idx="3"/>
            <a:endCxn xmlns:a="http://schemas.openxmlformats.org/drawingml/2006/main" id="11" idx="1"/>
          </p:cNvCxnSpPr>
          <p:nvPr/>
        </p:nvCxnSpPr>
        <p:spPr>
          <a:xfrm xmlns:a="http://schemas.openxmlformats.org/drawingml/2006/main">
            <a:off x="7849553" y="2781777"/>
            <a:ext cx="246697" cy="0"/>
          </a:xfrm>
          <a:prstGeom xmlns:a="http://schemas.openxmlformats.org/drawingml/2006/main" prst="straightConnector1">
            <a:avLst/>
          </a:prstGeom>
          <a:ln xmlns:a="http://schemas.openxmlformats.org/drawingml/2006/main" w="28575">
            <a:solidFill>
              <a:srgbClr val="BA4937"/>
            </a:solidFill>
            <a:prstDash val="solid"/>
            <a:tailEnd type="arrow" w="sm" len="sm"/>
          </a:ln>
        </p:spPr>
      </p:cxnSp>
      <p:cxnSp>
        <p:nvCxnSpPr>
          <p:cNvPr id="18" name=""/>
          <p:cNvCxnSpPr>
            <a:stCxn xmlns:a="http://schemas.openxmlformats.org/drawingml/2006/main" id="6" idx="3"/>
            <a:endCxn xmlns:a="http://schemas.openxmlformats.org/drawingml/2006/main" id="7" idx="1"/>
          </p:cNvCxnSpPr>
          <p:nvPr/>
        </p:nvCxnSpPr>
        <p:spPr>
          <a:xfrm xmlns:a="http://schemas.openxmlformats.org/drawingml/2006/main">
            <a:off x="7849553" y="2324577"/>
            <a:ext cx="246697" cy="0"/>
          </a:xfrm>
          <a:prstGeom xmlns:a="http://schemas.openxmlformats.org/drawingml/2006/main" prst="straightConnector1">
            <a:avLst/>
          </a:prstGeom>
          <a:ln xmlns:a="http://schemas.openxmlformats.org/drawingml/2006/main" w="28575">
            <a:solidFill>
              <a:srgbClr val="143A2B"/>
            </a:solidFill>
            <a:prstDash val="solid"/>
            <a:tailEnd type="arrow" w="sm" len="sm"/>
          </a:ln>
        </p:spPr>
      </p:cxnSp>
      <p:sp>
        <p:nvSpPr>
          <p:cNvPr id="19" name="">
            <a:extLst xmlns:a="http://schemas.openxmlformats.org/drawingml/2006/main">
              <a:ext uri="{FF2B5EF4-FFF2-40B4-BE49-F238E27FC236}">
                <a16:creationId xmlns:a16="http://schemas.microsoft.com/office/drawing/2014/main" id="{FEE38CB8-0A7D-4F2F-A508-A36FBBE60D6C}"/>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Read the combined plan</a:t>
            </a:r>
          </a:p>
        </p:txBody>
      </p:sp>
      <p:sp>
        <p:nvSpPr>
          <p:cNvPr id="2" name="">
            <a:extLst xmlns:a="http://schemas.openxmlformats.org/drawingml/2006/main">
              <a:ext uri="{FF2B5EF4-FFF2-40B4-BE49-F238E27FC236}">
                <a16:creationId xmlns:a16="http://schemas.microsoft.com/office/drawing/2014/main" id="{06D7FBBF-E439-469A-9132-7F659FED8521}"/>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05</a:t>
            </a:r>
          </a:p>
        </p:txBody>
      </p:sp>
      <p:sp>
        <p:nvSpPr>
          <p:cNvPr id="3" name="">
            <a:extLst xmlns:a="http://schemas.openxmlformats.org/drawingml/2006/main">
              <a:ext uri="{FF2B5EF4-FFF2-40B4-BE49-F238E27FC236}">
                <a16:creationId xmlns:a16="http://schemas.microsoft.com/office/drawing/2014/main" id="{01D21E80-04C1-4BB8-BDFD-431AD47F7CA9}"/>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Direction and size, in one view</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69b5b480f4b4646"/>
          <a:srcRect xmlns:a="http://schemas.openxmlformats.org/drawingml/2006/main" l="0" t="0" r="0" b="29699"/>
          <a:stretch xmlns:a="http://schemas.openxmlformats.org/drawingml/2006/main"/>
        </p:blipFill>
        <p:spPr>
          <a:xfrm xmlns:a="http://schemas.openxmlformats.org/drawingml/2006/main">
            <a:off x="609600" y="1562100"/>
            <a:ext cx="7172325" cy="460128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96DA842-E2C8-458B-8DBB-D8166857EF0E}"/>
              </a:ext>
            </a:extLst>
          </p:cNvPr>
          <p:cNvSpPr>
            <a:spLocks xmlns:a="http://schemas.openxmlformats.org/drawingml/2006/main" noGrp="1"/>
          </p:cNvSpPr>
          <p:nvPr/>
        </p:nvSpPr>
        <p:spPr>
          <a:xfrm xmlns:a="http://schemas.openxmlformats.org/drawingml/2006/main">
            <a:off x="8248650" y="21907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43A2B"/>
                </a:solidFill>
                <a:latin typeface="Rubik"/>
                <a:ea typeface="Rubik"/>
                <a:cs typeface="Rubik"/>
              </a:defRPr>
            </a:pPr>
            <a:r>
              <a:rPr sz="2250" b="1">
                <a:solidFill>
                  <a:srgbClr val="143A2B"/>
                </a:solidFill>
                <a:latin typeface="Rubik"/>
                <a:ea typeface="Rubik"/>
                <a:cs typeface="Rubik"/>
              </a:rPr>
              <a:t>BTC +2.1%</a:t>
            </a:r>
          </a:p>
        </p:txBody>
      </p:sp>
      <p:sp>
        <p:nvSpPr>
          <p:cNvPr id="6" name="">
            <a:extLst xmlns:a="http://schemas.openxmlformats.org/drawingml/2006/main">
              <a:ext uri="{FF2B5EF4-FFF2-40B4-BE49-F238E27FC236}">
                <a16:creationId xmlns:a16="http://schemas.microsoft.com/office/drawing/2014/main" id="{E14896B5-F03D-418D-B236-1684C148A76E}"/>
              </a:ext>
            </a:extLst>
          </p:cNvPr>
          <p:cNvSpPr>
            <a:spLocks xmlns:a="http://schemas.openxmlformats.org/drawingml/2006/main" noGrp="1"/>
          </p:cNvSpPr>
          <p:nvPr/>
        </p:nvSpPr>
        <p:spPr>
          <a:xfrm xmlns:a="http://schemas.openxmlformats.org/drawingml/2006/main">
            <a:off x="7848600" y="23241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D2106B0-D9F3-4889-8CA5-0EA33893B22A}"/>
              </a:ext>
            </a:extLst>
          </p:cNvPr>
          <p:cNvSpPr>
            <a:spLocks xmlns:a="http://schemas.openxmlformats.org/drawingml/2006/main" noGrp="1"/>
          </p:cNvSpPr>
          <p:nvPr/>
        </p:nvSpPr>
        <p:spPr>
          <a:xfrm xmlns:a="http://schemas.openxmlformats.org/drawingml/2006/main">
            <a:off x="8096250" y="23241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FE7066-2D90-40AA-8257-1C3C844D4C8F}"/>
              </a:ext>
            </a:extLst>
          </p:cNvPr>
          <p:cNvSpPr>
            <a:spLocks xmlns:a="http://schemas.openxmlformats.org/drawingml/2006/main" noGrp="1"/>
          </p:cNvSpPr>
          <p:nvPr/>
        </p:nvSpPr>
        <p:spPr>
          <a:xfrm xmlns:a="http://schemas.openxmlformats.org/drawingml/2006/main">
            <a:off x="8248650" y="26479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BA4937"/>
                </a:solidFill>
                <a:latin typeface="Rubik"/>
                <a:ea typeface="Rubik"/>
                <a:cs typeface="Rubik"/>
              </a:defRPr>
            </a:pPr>
            <a:r>
              <a:rPr sz="2250" b="1">
                <a:solidFill>
                  <a:srgbClr val="BA4937"/>
                </a:solidFill>
                <a:latin typeface="Rubik"/>
                <a:ea typeface="Rubik"/>
                <a:cs typeface="Rubik"/>
              </a:rPr>
              <a:t>LTC −1.0%</a:t>
            </a:r>
          </a:p>
        </p:txBody>
      </p:sp>
      <p:sp>
        <p:nvSpPr>
          <p:cNvPr id="10" name="">
            <a:extLst xmlns:a="http://schemas.openxmlformats.org/drawingml/2006/main">
              <a:ext uri="{FF2B5EF4-FFF2-40B4-BE49-F238E27FC236}">
                <a16:creationId xmlns:a16="http://schemas.microsoft.com/office/drawing/2014/main" id="{19B820EC-174F-4088-AF9D-C2B8B47C1CEC}"/>
              </a:ext>
            </a:extLst>
          </p:cNvPr>
          <p:cNvSpPr>
            <a:spLocks xmlns:a="http://schemas.openxmlformats.org/drawingml/2006/main" noGrp="1"/>
          </p:cNvSpPr>
          <p:nvPr/>
        </p:nvSpPr>
        <p:spPr>
          <a:xfrm xmlns:a="http://schemas.openxmlformats.org/drawingml/2006/main">
            <a:off x="7848600" y="27813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502B51-487C-4C9E-A91B-3896C9C9FE6C}"/>
              </a:ext>
            </a:extLst>
          </p:cNvPr>
          <p:cNvSpPr>
            <a:spLocks xmlns:a="http://schemas.openxmlformats.org/drawingml/2006/main" noGrp="1"/>
          </p:cNvSpPr>
          <p:nvPr/>
        </p:nvSpPr>
        <p:spPr>
          <a:xfrm xmlns:a="http://schemas.openxmlformats.org/drawingml/2006/main">
            <a:off x="8096250" y="27813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AC41FB7-46E4-4DBE-A347-DF08CA0FC62B}"/>
              </a:ext>
            </a:extLst>
          </p:cNvPr>
          <p:cNvSpPr>
            <a:spLocks xmlns:a="http://schemas.openxmlformats.org/drawingml/2006/main" noGrp="1"/>
          </p:cNvSpPr>
          <p:nvPr/>
        </p:nvSpPr>
        <p:spPr>
          <a:xfrm xmlns:a="http://schemas.openxmlformats.org/drawingml/2006/main">
            <a:off x="8248650" y="3276600"/>
            <a:ext cx="3333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657567"/>
                </a:solidFill>
                <a:latin typeface="Rubik"/>
                <a:ea typeface="Rubik"/>
                <a:cs typeface="Rubik"/>
              </a:defRPr>
            </a:pPr>
            <a:r>
              <a:rPr sz="2100" b="0">
                <a:solidFill>
                  <a:srgbClr val="657567"/>
                </a:solidFill>
                <a:latin typeface="Rubik"/>
                <a:ea typeface="Rubik"/>
                <a:cs typeface="Rubik"/>
              </a:rPr>
              <a:t>Positive means long.</a:t>
            </a:r>
          </a:p>
          <a:p xmlns:a="http://schemas.openxmlformats.org/drawingml/2006/main">
            <a:pPr algn="l">
              <a:defRPr sz="2100" b="0">
                <a:solidFill>
                  <a:srgbClr val="657567"/>
                </a:solidFill>
                <a:latin typeface="Rubik"/>
                <a:ea typeface="Rubik"/>
                <a:cs typeface="Rubik"/>
              </a:defRPr>
            </a:pPr>
            <a:r>
              <a:rPr sz="2100" b="0">
                <a:solidFill>
                  <a:srgbClr val="657567"/>
                </a:solidFill>
                <a:latin typeface="Rubik"/>
                <a:ea typeface="Rubik"/>
                <a:cs typeface="Rubik"/>
              </a:rPr>
              <a:t>Negative means short.</a:t>
            </a:r>
          </a:p>
        </p:txBody>
      </p:sp>
      <p:sp>
        <p:nvSpPr>
          <p:cNvPr id="14" name="">
            <a:extLst xmlns:a="http://schemas.openxmlformats.org/drawingml/2006/main">
              <a:ext uri="{FF2B5EF4-FFF2-40B4-BE49-F238E27FC236}">
                <a16:creationId xmlns:a16="http://schemas.microsoft.com/office/drawing/2014/main" id="{60D42209-507E-449D-A3E8-203042C60EBA}"/>
              </a:ext>
            </a:extLst>
          </p:cNvPr>
          <p:cNvSpPr>
            <a:spLocks xmlns:a="http://schemas.openxmlformats.org/drawingml/2006/main" noGrp="1"/>
          </p:cNvSpPr>
          <p:nvPr/>
        </p:nvSpPr>
        <p:spPr>
          <a:xfrm xmlns:a="http://schemas.openxmlformats.org/drawingml/2006/main">
            <a:off x="8248650" y="451485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17251C"/>
                </a:solidFill>
                <a:latin typeface="Rubik"/>
                <a:ea typeface="Rubik"/>
                <a:cs typeface="Rubik"/>
              </a:defRPr>
            </a:pPr>
            <a:r>
              <a:rPr sz="1875" b="0">
                <a:solidFill>
                  <a:srgbClr val="17251C"/>
                </a:solidFill>
                <a:latin typeface="Rubik"/>
                <a:ea typeface="Rubik"/>
                <a:cs typeface="Rubik"/>
              </a:rPr>
              <a:t>Percentages show planned</a:t>
            </a:r>
          </a:p>
          <a:p xmlns:a="http://schemas.openxmlformats.org/drawingml/2006/main">
            <a:pPr algn="l">
              <a:defRPr sz="1875" b="0">
                <a:solidFill>
                  <a:srgbClr val="17251C"/>
                </a:solidFill>
                <a:latin typeface="Rubik"/>
                <a:ea typeface="Rubik"/>
                <a:cs typeface="Rubik"/>
              </a:defRPr>
            </a:pPr>
            <a:r>
              <a:rPr sz="1875" b="0">
                <a:solidFill>
                  <a:srgbClr val="17251C"/>
                </a:solidFill>
                <a:latin typeface="Rubik"/>
                <a:ea typeface="Rubik"/>
                <a:cs typeface="Rubik"/>
              </a:rPr>
              <a:t>positions as a share of</a:t>
            </a:r>
          </a:p>
          <a:p xmlns:a="http://schemas.openxmlformats.org/drawingml/2006/main">
            <a:pPr algn="l">
              <a:defRPr sz="1875" b="0">
                <a:solidFill>
                  <a:srgbClr val="17251C"/>
                </a:solidFill>
                <a:latin typeface="Rubik"/>
                <a:ea typeface="Rubik"/>
                <a:cs typeface="Rubik"/>
              </a:defRPr>
            </a:pPr>
            <a:r>
              <a:rPr sz="1875" b="0">
                <a:solidFill>
                  <a:srgbClr val="17251C"/>
                </a:solidFill>
                <a:latin typeface="Rubik"/>
                <a:ea typeface="Rubik"/>
                <a:cs typeface="Rubik"/>
              </a:rPr>
              <a:t>portfolio value.</a:t>
            </a:r>
          </a:p>
        </p:txBody>
      </p:sp>
      <p:sp>
        <p:nvSpPr>
          <p:cNvPr id="15" name="">
            <a:extLst xmlns:a="http://schemas.openxmlformats.org/drawingml/2006/main">
              <a:ext uri="{FF2B5EF4-FFF2-40B4-BE49-F238E27FC236}">
                <a16:creationId xmlns:a16="http://schemas.microsoft.com/office/drawing/2014/main" id="{96B75C21-C08F-47DD-9304-4F98438DABB0}"/>
              </a:ext>
            </a:extLst>
          </p:cNvPr>
          <p:cNvSpPr>
            <a:spLocks xmlns:a="http://schemas.openxmlformats.org/drawingml/2006/main" noGrp="1"/>
          </p:cNvSpPr>
          <p:nvPr/>
        </p:nvSpPr>
        <p:spPr>
          <a:xfrm xmlns:a="http://schemas.openxmlformats.org/drawingml/2006/main">
            <a:off x="8248650" y="57531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1">
                <a:solidFill>
                  <a:srgbClr val="143A2B"/>
                </a:solidFill>
                <a:latin typeface="Rubik"/>
                <a:ea typeface="Rubik"/>
                <a:cs typeface="Rubik"/>
              </a:defRPr>
            </a:pPr>
            <a:r>
              <a:rPr sz="1800" b="1">
                <a:solidFill>
                  <a:srgbClr val="143A2B"/>
                </a:solidFill>
                <a:latin typeface="Rubik"/>
                <a:ea typeface="Rubik"/>
                <a:cs typeface="Rubik"/>
              </a:rPr>
              <a:t>Positions, not returns.</a:t>
            </a:r>
          </a:p>
        </p:txBody>
      </p:sp>
      <p:sp>
        <p:nvSpPr>
          <p:cNvPr id="16" name="">
            <a:extLst xmlns:a="http://schemas.openxmlformats.org/drawingml/2006/main">
              <a:ext uri="{FF2B5EF4-FFF2-40B4-BE49-F238E27FC236}">
                <a16:creationId xmlns:a16="http://schemas.microsoft.com/office/drawing/2014/main" id="{A08EC036-4382-4A05-8B1B-1595BD6728DD}"/>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7 October, run 15:30 SGT. Earlier paper capture. Planned exposure, not funded fills.</a:t>
            </a:r>
          </a:p>
        </p:txBody>
      </p:sp>
    </p:spTree>
    <p:extLst>
      <p:ext uri="{BB962C8B-B14F-4D97-AF65-F5344CB8AC3E}">
        <p14:creationId xmlns:p14="http://schemas.microsoft.com/office/powerpoint/2010/main" val="2022243524"/>
      </p:ext>
    </p:extLst>
  </p:cSld>
</p:sld>
</file>

<file path=ppt/slides/slide6.xml><?xml version="1.0" encoding="utf-8"?>
<p:sld xmlns:p="http://schemas.openxmlformats.org/presentationml/2006/main">
  <p:cSld>
    <p:bg>
      <p:bgPr>
        <a:solidFill xmlns:a="http://schemas.openxmlformats.org/drawingml/2006/main">
          <a:srgbClr val="143A2B"/>
        </a:solidFill>
      </p:bgPr>
    </p:bg>
    <p:spTree>
      <p:nvGrpSpPr>
        <p:cNvPr id="1" name=""/>
        <p:cNvGrpSpPr/>
        <p:nvPr/>
      </p:nvGrpSpPr>
      <p:grpSpPr>
        <a:xfrm xmlns:a="http://schemas.openxmlformats.org/drawingml/2006/main"/>
      </p:grpSpPr>
      <p:cxnSp>
        <p:nvCxnSpPr>
          <p:cNvPr id="30" name=""/>
          <p:cNvCxnSpPr>
            <a:stCxn xmlns:a="http://schemas.openxmlformats.org/drawingml/2006/main" id="25" idx="3"/>
            <a:endCxn xmlns:a="http://schemas.openxmlformats.org/drawingml/2006/main" id="26" idx="1"/>
          </p:cNvCxnSpPr>
          <p:nvPr/>
        </p:nvCxnSpPr>
        <p:spPr>
          <a:xfrm xmlns:a="http://schemas.openxmlformats.org/drawingml/2006/main" flipH="1">
            <a:off x="6096000" y="4877277"/>
            <a:ext cx="953" cy="361950"/>
          </a:xfrm>
          <a:prstGeom xmlns:a="http://schemas.openxmlformats.org/drawingml/2006/main" prst="straightConnector1">
            <a:avLst/>
          </a:prstGeom>
          <a:ln xmlns:a="http://schemas.openxmlformats.org/drawingml/2006/main" w="28575">
            <a:solidFill>
              <a:srgbClr val="F7C948"/>
            </a:solidFill>
            <a:prstDash val="solid"/>
            <a:tailEnd type="arrow" w="sm" len="sm"/>
          </a:ln>
        </p:spPr>
      </p:cxnSp>
      <p:cxnSp>
        <p:nvCxnSpPr>
          <p:cNvPr id="31" name=""/>
          <p:cNvCxnSpPr>
            <a:stCxn xmlns:a="http://schemas.openxmlformats.org/drawingml/2006/main" id="22" idx="3"/>
            <a:endCxn xmlns:a="http://schemas.openxmlformats.org/drawingml/2006/main" id="23" idx="1"/>
          </p:cNvCxnSpPr>
          <p:nvPr/>
        </p:nvCxnSpPr>
        <p:spPr>
          <a:xfrm xmlns:a="http://schemas.openxmlformats.org/drawingml/2006/main" flipH="1">
            <a:off x="6096000" y="4877277"/>
            <a:ext cx="3734753" cy="0"/>
          </a:xfrm>
          <a:prstGeom xmlns:a="http://schemas.openxmlformats.org/drawingml/2006/main" prst="straightConnector1">
            <a:avLst/>
          </a:prstGeom>
          <a:ln xmlns:a="http://schemas.openxmlformats.org/drawingml/2006/main" w="28575">
            <a:solidFill>
              <a:srgbClr val="CBD9C8"/>
            </a:solidFill>
            <a:prstDash val="solid"/>
          </a:ln>
        </p:spPr>
      </p:cxnSp>
      <p:cxnSp>
        <p:nvCxnSpPr>
          <p:cNvPr id="32" name=""/>
          <p:cNvCxnSpPr>
            <a:stCxn xmlns:a="http://schemas.openxmlformats.org/drawingml/2006/main" id="19" idx="3"/>
            <a:endCxn xmlns:a="http://schemas.openxmlformats.org/drawingml/2006/main" id="20" idx="1"/>
          </p:cNvCxnSpPr>
          <p:nvPr/>
        </p:nvCxnSpPr>
        <p:spPr>
          <a:xfrm xmlns:a="http://schemas.openxmlformats.org/drawingml/2006/main" flipH="1">
            <a:off x="9829800" y="4458177"/>
            <a:ext cx="953" cy="419100"/>
          </a:xfrm>
          <a:prstGeom xmlns:a="http://schemas.openxmlformats.org/drawingml/2006/main" prst="straightConnector1">
            <a:avLst/>
          </a:prstGeom>
          <a:ln xmlns:a="http://schemas.openxmlformats.org/drawingml/2006/main" w="28575">
            <a:solidFill>
              <a:srgbClr val="CBD9C8"/>
            </a:solidFill>
            <a:prstDash val="solid"/>
          </a:ln>
        </p:spPr>
      </p:cxnSp>
      <p:cxnSp>
        <p:nvCxnSpPr>
          <p:cNvPr id="33" name=""/>
          <p:cNvCxnSpPr>
            <a:stCxn xmlns:a="http://schemas.openxmlformats.org/drawingml/2006/main" id="14" idx="3"/>
            <a:endCxn xmlns:a="http://schemas.openxmlformats.org/drawingml/2006/main" id="15" idx="1"/>
          </p:cNvCxnSpPr>
          <p:nvPr/>
        </p:nvCxnSpPr>
        <p:spPr>
          <a:xfrm xmlns:a="http://schemas.openxmlformats.org/drawingml/2006/main" flipH="1">
            <a:off x="6096000" y="4458177"/>
            <a:ext cx="953" cy="419100"/>
          </a:xfrm>
          <a:prstGeom xmlns:a="http://schemas.openxmlformats.org/drawingml/2006/main" prst="straightConnector1">
            <a:avLst/>
          </a:prstGeom>
          <a:ln xmlns:a="http://schemas.openxmlformats.org/drawingml/2006/main" w="28575">
            <a:solidFill>
              <a:srgbClr val="CBD9C8"/>
            </a:solidFill>
            <a:prstDash val="solid"/>
          </a:ln>
        </p:spPr>
      </p:cxnSp>
      <p:cxnSp>
        <p:nvCxnSpPr>
          <p:cNvPr id="34" name=""/>
          <p:cNvCxnSpPr>
            <a:stCxn xmlns:a="http://schemas.openxmlformats.org/drawingml/2006/main" id="9" idx="3"/>
            <a:endCxn xmlns:a="http://schemas.openxmlformats.org/drawingml/2006/main" id="10" idx="1"/>
          </p:cNvCxnSpPr>
          <p:nvPr/>
        </p:nvCxnSpPr>
        <p:spPr>
          <a:xfrm xmlns:a="http://schemas.openxmlformats.org/drawingml/2006/main">
            <a:off x="2363153" y="4877277"/>
            <a:ext cx="3732847" cy="0"/>
          </a:xfrm>
          <a:prstGeom xmlns:a="http://schemas.openxmlformats.org/drawingml/2006/main" prst="straightConnector1">
            <a:avLst/>
          </a:prstGeom>
          <a:ln xmlns:a="http://schemas.openxmlformats.org/drawingml/2006/main" w="28575">
            <a:solidFill>
              <a:srgbClr val="CBD9C8"/>
            </a:solidFill>
            <a:prstDash val="solid"/>
          </a:ln>
        </p:spPr>
      </p:cxn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flipH="1">
            <a:off x="2362200" y="4458177"/>
            <a:ext cx="953" cy="419100"/>
          </a:xfrm>
          <a:prstGeom xmlns:a="http://schemas.openxmlformats.org/drawingml/2006/main" prst="straightConnector1">
            <a:avLst/>
          </a:prstGeom>
          <a:ln xmlns:a="http://schemas.openxmlformats.org/drawingml/2006/main" w="28575">
            <a:solidFill>
              <a:srgbClr val="CBD9C8"/>
            </a:solidFill>
            <a:prstDash val="solid"/>
          </a:ln>
        </p:spPr>
      </p:cxnSp>
      <p:sp>
        <p:nvSpPr>
          <p:cNvPr id="36" name="">
            <a:extLst xmlns:a="http://schemas.openxmlformats.org/drawingml/2006/main">
              <a:ext uri="{FF2B5EF4-FFF2-40B4-BE49-F238E27FC236}">
                <a16:creationId xmlns:a16="http://schemas.microsoft.com/office/drawing/2014/main" id="{A7D7245D-95C8-427A-8A64-03A6F9275F66}"/>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Source review</a:t>
            </a:r>
          </a:p>
        </p:txBody>
      </p:sp>
      <p:sp>
        <p:nvSpPr>
          <p:cNvPr id="2" name="">
            <a:extLst xmlns:a="http://schemas.openxmlformats.org/drawingml/2006/main">
              <a:ext uri="{FF2B5EF4-FFF2-40B4-BE49-F238E27FC236}">
                <a16:creationId xmlns:a16="http://schemas.microsoft.com/office/drawing/2014/main" id="{14E39E05-514D-4853-8B61-B62125BECCD2}"/>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CBD9C8"/>
                </a:solidFill>
                <a:latin typeface="Rubik"/>
                <a:ea typeface="Rubik"/>
                <a:cs typeface="Rubik"/>
              </a:defRPr>
            </a:pPr>
            <a:r>
              <a:rPr sz="1350" b="0">
                <a:solidFill>
                  <a:srgbClr val="CBD9C8"/>
                </a:solidFill>
                <a:latin typeface="Rubik"/>
                <a:ea typeface="Rubik"/>
                <a:cs typeface="Rubik"/>
              </a:rPr>
              <a:t>06</a:t>
            </a:r>
          </a:p>
        </p:txBody>
      </p:sp>
      <p:sp>
        <p:nvSpPr>
          <p:cNvPr id="3" name="">
            <a:extLst xmlns:a="http://schemas.openxmlformats.org/drawingml/2006/main">
              <a:ext uri="{FF2B5EF4-FFF2-40B4-BE49-F238E27FC236}">
                <a16:creationId xmlns:a16="http://schemas.microsoft.com/office/drawing/2014/main" id="{A99A4603-F6B5-4828-9E45-D65A68A490BE}"/>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F4F0E4"/>
                </a:solidFill>
                <a:latin typeface="Athelas"/>
                <a:ea typeface="Athelas"/>
                <a:cs typeface="Athelas"/>
              </a:defRPr>
            </a:pPr>
            <a:r>
              <a:rPr sz="3750" b="0">
                <a:solidFill>
                  <a:srgbClr val="F4F0E4"/>
                </a:solidFill>
                <a:latin typeface="Athelas"/>
                <a:ea typeface="Athelas"/>
                <a:cs typeface="Athelas"/>
              </a:rPr>
              <a:t>The questions behind selection</a:t>
            </a:r>
          </a:p>
        </p:txBody>
      </p:sp>
      <p:sp>
        <p:nvSpPr>
          <p:cNvPr id="4" name="">
            <a:extLst xmlns:a="http://schemas.openxmlformats.org/drawingml/2006/main">
              <a:ext uri="{FF2B5EF4-FFF2-40B4-BE49-F238E27FC236}">
                <a16:creationId xmlns:a16="http://schemas.microsoft.com/office/drawing/2014/main" id="{E9C26E42-57EF-4C4B-B69F-4A3B6B8257B1}"/>
              </a:ext>
            </a:extLst>
          </p:cNvPr>
          <p:cNvSpPr>
            <a:spLocks xmlns:a="http://schemas.openxmlformats.org/drawingml/2006/main" noGrp="1"/>
          </p:cNvSpPr>
          <p:nvPr/>
        </p:nvSpPr>
        <p:spPr>
          <a:xfrm xmlns:a="http://schemas.openxmlformats.org/drawingml/2006/main">
            <a:off x="609600" y="23622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7C948"/>
                </a:solidFill>
                <a:latin typeface="Rubik"/>
                <a:ea typeface="Rubik"/>
                <a:cs typeface="Rubik"/>
              </a:defRPr>
            </a:pPr>
            <a:r>
              <a:rPr sz="2100" b="1">
                <a:solidFill>
                  <a:srgbClr val="F7C948"/>
                </a:solidFill>
                <a:latin typeface="Rubik"/>
                <a:ea typeface="Rubik"/>
                <a:cs typeface="Rubik"/>
              </a:rPr>
              <a:t>Fit</a:t>
            </a:r>
          </a:p>
        </p:txBody>
      </p:sp>
      <p:sp>
        <p:nvSpPr>
          <p:cNvPr id="5" name="">
            <a:extLst xmlns:a="http://schemas.openxmlformats.org/drawingml/2006/main">
              <a:ext uri="{FF2B5EF4-FFF2-40B4-BE49-F238E27FC236}">
                <a16:creationId xmlns:a16="http://schemas.microsoft.com/office/drawing/2014/main" id="{2DB6BCFB-5249-4632-B4F2-CAB6239DE1B1}"/>
              </a:ext>
            </a:extLst>
          </p:cNvPr>
          <p:cNvSpPr>
            <a:spLocks xmlns:a="http://schemas.openxmlformats.org/drawingml/2006/main" noGrp="1"/>
          </p:cNvSpPr>
          <p:nvPr/>
        </p:nvSpPr>
        <p:spPr>
          <a:xfrm xmlns:a="http://schemas.openxmlformats.org/drawingml/2006/main">
            <a:off x="609600" y="3009900"/>
            <a:ext cx="3314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Does this trader</a:t>
            </a:r>
          </a:p>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fit the portfolio?</a:t>
            </a:r>
          </a:p>
        </p:txBody>
      </p:sp>
      <p:sp>
        <p:nvSpPr>
          <p:cNvPr id="6" name="">
            <a:extLst xmlns:a="http://schemas.openxmlformats.org/drawingml/2006/main">
              <a:ext uri="{FF2B5EF4-FFF2-40B4-BE49-F238E27FC236}">
                <a16:creationId xmlns:a16="http://schemas.microsoft.com/office/drawing/2014/main" id="{EDB31DEC-3E1B-49FE-8309-9AFD65E458C7}"/>
              </a:ext>
            </a:extLst>
          </p:cNvPr>
          <p:cNvSpPr>
            <a:spLocks xmlns:a="http://schemas.openxmlformats.org/drawingml/2006/main" noGrp="1"/>
          </p:cNvSpPr>
          <p:nvPr/>
        </p:nvSpPr>
        <p:spPr>
          <a:xfrm xmlns:a="http://schemas.openxmlformats.org/drawingml/2006/main">
            <a:off x="2362200" y="44577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E6633EC-E090-4424-9F6F-3412D74FDA49}"/>
              </a:ext>
            </a:extLst>
          </p:cNvPr>
          <p:cNvSpPr>
            <a:spLocks xmlns:a="http://schemas.openxmlformats.org/drawingml/2006/main" noGrp="1"/>
          </p:cNvSpPr>
          <p:nvPr/>
        </p:nvSpPr>
        <p:spPr>
          <a:xfrm xmlns:a="http://schemas.openxmlformats.org/drawingml/2006/main">
            <a:off x="23622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17A3AC0-D2B4-4648-BEA9-79090B3B3678}"/>
              </a:ext>
            </a:extLst>
          </p:cNvPr>
          <p:cNvSpPr>
            <a:spLocks xmlns:a="http://schemas.openxmlformats.org/drawingml/2006/main" noGrp="1"/>
          </p:cNvSpPr>
          <p:nvPr/>
        </p:nvSpPr>
        <p:spPr>
          <a:xfrm xmlns:a="http://schemas.openxmlformats.org/drawingml/2006/main">
            <a:off x="23622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68808A-0446-4765-9859-B9478E29521B}"/>
              </a:ext>
            </a:extLst>
          </p:cNvPr>
          <p:cNvSpPr>
            <a:spLocks xmlns:a="http://schemas.openxmlformats.org/drawingml/2006/main" noGrp="1"/>
          </p:cNvSpPr>
          <p:nvPr/>
        </p:nvSpPr>
        <p:spPr>
          <a:xfrm xmlns:a="http://schemas.openxmlformats.org/drawingml/2006/main">
            <a:off x="60960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B3F4281-000D-4C12-B169-13B3AB75AE2A}"/>
              </a:ext>
            </a:extLst>
          </p:cNvPr>
          <p:cNvSpPr>
            <a:spLocks xmlns:a="http://schemas.openxmlformats.org/drawingml/2006/main" noGrp="1"/>
          </p:cNvSpPr>
          <p:nvPr/>
        </p:nvSpPr>
        <p:spPr>
          <a:xfrm xmlns:a="http://schemas.openxmlformats.org/drawingml/2006/main">
            <a:off x="4343400" y="23622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7C948"/>
                </a:solidFill>
                <a:latin typeface="Rubik"/>
                <a:ea typeface="Rubik"/>
                <a:cs typeface="Rubik"/>
              </a:defRPr>
            </a:pPr>
            <a:r>
              <a:rPr sz="2100" b="1">
                <a:solidFill>
                  <a:srgbClr val="F7C948"/>
                </a:solidFill>
                <a:latin typeface="Rubik"/>
                <a:ea typeface="Rubik"/>
                <a:cs typeface="Rubik"/>
              </a:rPr>
              <a:t>Risk</a:t>
            </a:r>
          </a:p>
        </p:txBody>
      </p:sp>
      <p:sp>
        <p:nvSpPr>
          <p:cNvPr id="13" name="">
            <a:extLst xmlns:a="http://schemas.openxmlformats.org/drawingml/2006/main">
              <a:ext uri="{FF2B5EF4-FFF2-40B4-BE49-F238E27FC236}">
                <a16:creationId xmlns:a16="http://schemas.microsoft.com/office/drawing/2014/main" id="{89B4810C-F319-4BBA-8EDF-033506B242B7}"/>
              </a:ext>
            </a:extLst>
          </p:cNvPr>
          <p:cNvSpPr>
            <a:spLocks xmlns:a="http://schemas.openxmlformats.org/drawingml/2006/main" noGrp="1"/>
          </p:cNvSpPr>
          <p:nvPr/>
        </p:nvSpPr>
        <p:spPr>
          <a:xfrm xmlns:a="http://schemas.openxmlformats.org/drawingml/2006/main">
            <a:off x="4343400" y="3009900"/>
            <a:ext cx="3314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What could</a:t>
            </a:r>
          </a:p>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go wrong?</a:t>
            </a:r>
          </a:p>
        </p:txBody>
      </p:sp>
      <p:sp>
        <p:nvSpPr>
          <p:cNvPr id="14" name="">
            <a:extLst xmlns:a="http://schemas.openxmlformats.org/drawingml/2006/main">
              <a:ext uri="{FF2B5EF4-FFF2-40B4-BE49-F238E27FC236}">
                <a16:creationId xmlns:a16="http://schemas.microsoft.com/office/drawing/2014/main" id="{153AA446-B7A0-4E5D-8547-CFC0AF0A99A2}"/>
              </a:ext>
            </a:extLst>
          </p:cNvPr>
          <p:cNvSpPr>
            <a:spLocks xmlns:a="http://schemas.openxmlformats.org/drawingml/2006/main" noGrp="1"/>
          </p:cNvSpPr>
          <p:nvPr/>
        </p:nvSpPr>
        <p:spPr>
          <a:xfrm xmlns:a="http://schemas.openxmlformats.org/drawingml/2006/main">
            <a:off x="6096000" y="44577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D976EC5-87B9-496B-AD61-4903944F8159}"/>
              </a:ext>
            </a:extLst>
          </p:cNvPr>
          <p:cNvSpPr>
            <a:spLocks xmlns:a="http://schemas.openxmlformats.org/drawingml/2006/main" noGrp="1"/>
          </p:cNvSpPr>
          <p:nvPr/>
        </p:nvSpPr>
        <p:spPr>
          <a:xfrm xmlns:a="http://schemas.openxmlformats.org/drawingml/2006/main">
            <a:off x="60960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353959B-0727-4DDC-89C9-0F9CB526BB87}"/>
              </a:ext>
            </a:extLst>
          </p:cNvPr>
          <p:cNvSpPr>
            <a:spLocks xmlns:a="http://schemas.openxmlformats.org/drawingml/2006/main" noGrp="1"/>
          </p:cNvSpPr>
          <p:nvPr/>
        </p:nvSpPr>
        <p:spPr>
          <a:xfrm xmlns:a="http://schemas.openxmlformats.org/drawingml/2006/main">
            <a:off x="8077200" y="23622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F7C948"/>
                </a:solidFill>
                <a:latin typeface="Rubik"/>
                <a:ea typeface="Rubik"/>
                <a:cs typeface="Rubik"/>
              </a:defRPr>
            </a:pPr>
            <a:r>
              <a:rPr sz="2100" b="1">
                <a:solidFill>
                  <a:srgbClr val="F7C948"/>
                </a:solidFill>
                <a:latin typeface="Rubik"/>
                <a:ea typeface="Rubik"/>
                <a:cs typeface="Rubik"/>
              </a:rPr>
              <a:t>Challenge</a:t>
            </a:r>
          </a:p>
        </p:txBody>
      </p:sp>
      <p:sp>
        <p:nvSpPr>
          <p:cNvPr id="18" name="">
            <a:extLst xmlns:a="http://schemas.openxmlformats.org/drawingml/2006/main">
              <a:ext uri="{FF2B5EF4-FFF2-40B4-BE49-F238E27FC236}">
                <a16:creationId xmlns:a16="http://schemas.microsoft.com/office/drawing/2014/main" id="{6FF5217F-8F85-40EF-BDC5-4577598CB20C}"/>
              </a:ext>
            </a:extLst>
          </p:cNvPr>
          <p:cNvSpPr>
            <a:spLocks xmlns:a="http://schemas.openxmlformats.org/drawingml/2006/main" noGrp="1"/>
          </p:cNvSpPr>
          <p:nvPr/>
        </p:nvSpPr>
        <p:spPr>
          <a:xfrm xmlns:a="http://schemas.openxmlformats.org/drawingml/2006/main">
            <a:off x="8077200" y="3009900"/>
            <a:ext cx="33147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What may have</a:t>
            </a:r>
          </a:p>
          <a:p xmlns:a="http://schemas.openxmlformats.org/drawingml/2006/main">
            <a:pPr algn="l">
              <a:defRPr sz="2550" b="0">
                <a:solidFill>
                  <a:srgbClr val="F4F0E4"/>
                </a:solidFill>
                <a:latin typeface="Rubik"/>
                <a:ea typeface="Rubik"/>
                <a:cs typeface="Rubik"/>
              </a:defRPr>
            </a:pPr>
            <a:r>
              <a:rPr sz="2550" b="0">
                <a:solidFill>
                  <a:srgbClr val="F4F0E4"/>
                </a:solidFill>
                <a:latin typeface="Rubik"/>
                <a:ea typeface="Rubik"/>
                <a:cs typeface="Rubik"/>
              </a:rPr>
              <a:t>been missed?</a:t>
            </a:r>
          </a:p>
        </p:txBody>
      </p:sp>
      <p:sp>
        <p:nvSpPr>
          <p:cNvPr id="19" name="">
            <a:extLst xmlns:a="http://schemas.openxmlformats.org/drawingml/2006/main">
              <a:ext uri="{FF2B5EF4-FFF2-40B4-BE49-F238E27FC236}">
                <a16:creationId xmlns:a16="http://schemas.microsoft.com/office/drawing/2014/main" id="{2937562E-132D-4B7C-BD83-750B9A8171A6}"/>
              </a:ext>
            </a:extLst>
          </p:cNvPr>
          <p:cNvSpPr>
            <a:spLocks xmlns:a="http://schemas.openxmlformats.org/drawingml/2006/main" noGrp="1"/>
          </p:cNvSpPr>
          <p:nvPr/>
        </p:nvSpPr>
        <p:spPr>
          <a:xfrm xmlns:a="http://schemas.openxmlformats.org/drawingml/2006/main">
            <a:off x="9829800" y="44577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F230EA9-CE2C-4648-9BD2-A76E03BD55F1}"/>
              </a:ext>
            </a:extLst>
          </p:cNvPr>
          <p:cNvSpPr>
            <a:spLocks xmlns:a="http://schemas.openxmlformats.org/drawingml/2006/main" noGrp="1"/>
          </p:cNvSpPr>
          <p:nvPr/>
        </p:nvSpPr>
        <p:spPr>
          <a:xfrm xmlns:a="http://schemas.openxmlformats.org/drawingml/2006/main">
            <a:off x="98298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1B3AE31-1C87-420D-97EA-D80BD5F3D66D}"/>
              </a:ext>
            </a:extLst>
          </p:cNvPr>
          <p:cNvSpPr>
            <a:spLocks xmlns:a="http://schemas.openxmlformats.org/drawingml/2006/main" noGrp="1"/>
          </p:cNvSpPr>
          <p:nvPr/>
        </p:nvSpPr>
        <p:spPr>
          <a:xfrm xmlns:a="http://schemas.openxmlformats.org/drawingml/2006/main">
            <a:off x="98298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1AEFB95-99C3-4F0F-9239-E89FF8E87A38}"/>
              </a:ext>
            </a:extLst>
          </p:cNvPr>
          <p:cNvSpPr>
            <a:spLocks xmlns:a="http://schemas.openxmlformats.org/drawingml/2006/main" noGrp="1"/>
          </p:cNvSpPr>
          <p:nvPr/>
        </p:nvSpPr>
        <p:spPr>
          <a:xfrm xmlns:a="http://schemas.openxmlformats.org/drawingml/2006/main">
            <a:off x="60960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B0EE053-956F-4F4B-96B5-87D5AD03A15C}"/>
              </a:ext>
            </a:extLst>
          </p:cNvPr>
          <p:cNvSpPr>
            <a:spLocks xmlns:a="http://schemas.openxmlformats.org/drawingml/2006/main" noGrp="1"/>
          </p:cNvSpPr>
          <p:nvPr/>
        </p:nvSpPr>
        <p:spPr>
          <a:xfrm xmlns:a="http://schemas.openxmlformats.org/drawingml/2006/main">
            <a:off x="6096000" y="48768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3047873-C298-4B60-ACC1-ECF88C1993DE}"/>
              </a:ext>
            </a:extLst>
          </p:cNvPr>
          <p:cNvSpPr>
            <a:spLocks xmlns:a="http://schemas.openxmlformats.org/drawingml/2006/main" noGrp="1"/>
          </p:cNvSpPr>
          <p:nvPr/>
        </p:nvSpPr>
        <p:spPr>
          <a:xfrm xmlns:a="http://schemas.openxmlformats.org/drawingml/2006/main">
            <a:off x="6096000" y="523875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95A185B-3C39-4B2E-A201-0307502EDB5E}"/>
              </a:ext>
            </a:extLst>
          </p:cNvPr>
          <p:cNvSpPr>
            <a:spLocks xmlns:a="http://schemas.openxmlformats.org/drawingml/2006/main" noGrp="1"/>
          </p:cNvSpPr>
          <p:nvPr/>
        </p:nvSpPr>
        <p:spPr>
          <a:xfrm xmlns:a="http://schemas.openxmlformats.org/drawingml/2006/main">
            <a:off x="1371600" y="5486400"/>
            <a:ext cx="9448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550" b="1">
                <a:solidFill>
                  <a:srgbClr val="F4F0E4"/>
                </a:solidFill>
                <a:latin typeface="Rubik"/>
                <a:ea typeface="Rubik"/>
                <a:cs typeface="Rubik"/>
              </a:defRPr>
            </a:pPr>
            <a:r>
              <a:rPr sz="2550" b="1">
                <a:solidFill>
                  <a:srgbClr val="F4F0E4"/>
                </a:solidFill>
                <a:latin typeface="Rubik"/>
                <a:ea typeface="Rubik"/>
                <a:cs typeface="Rubik"/>
              </a:rPr>
              <a:t>Selected traders and their recorded shares</a:t>
            </a:r>
          </a:p>
        </p:txBody>
      </p:sp>
      <p:sp>
        <p:nvSpPr>
          <p:cNvPr id="29" name="">
            <a:extLst xmlns:a="http://schemas.openxmlformats.org/drawingml/2006/main">
              <a:ext uri="{FF2B5EF4-FFF2-40B4-BE49-F238E27FC236}">
                <a16:creationId xmlns:a16="http://schemas.microsoft.com/office/drawing/2014/main" id="{693C47DD-6BEC-4C0E-9A0B-6681CD41A062}"/>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Three specialist AI contexts on one provider. Basic fallback differs from strict review.</a:t>
            </a:r>
          </a:p>
        </p:txBody>
      </p:sp>
    </p:spTree>
    <p:extLst>
      <p:ext uri="{BB962C8B-B14F-4D97-AF65-F5344CB8AC3E}">
        <p14:creationId xmlns:p14="http://schemas.microsoft.com/office/powerpoint/2010/main" val="567888934"/>
      </p:ext>
    </p:extLst>
  </p:cSld>
</p:sld>
</file>

<file path=ppt/slides/slide7.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cxnSp>
        <p:nvCxnSpPr>
          <p:cNvPr id="34" name=""/>
          <p:cNvCxnSpPr>
            <a:stCxn xmlns:a="http://schemas.openxmlformats.org/drawingml/2006/main" id="28" idx="3"/>
            <a:endCxn xmlns:a="http://schemas.openxmlformats.org/drawingml/2006/main" id="29" idx="1"/>
          </p:cNvCxnSpPr>
          <p:nvPr/>
        </p:nvCxnSpPr>
        <p:spPr>
          <a:xfrm xmlns:a="http://schemas.openxmlformats.org/drawingml/2006/main" flipH="1">
            <a:off x="8077200" y="2724627"/>
            <a:ext cx="953" cy="1962150"/>
          </a:xfrm>
          <a:prstGeom xmlns:a="http://schemas.openxmlformats.org/drawingml/2006/main" prst="straightConnector1">
            <a:avLst/>
          </a:prstGeom>
          <a:ln xmlns:a="http://schemas.openxmlformats.org/drawingml/2006/main" w="28575">
            <a:solidFill>
              <a:srgbClr val="CCD4C5"/>
            </a:solidFill>
            <a:prstDash val="solid"/>
          </a:ln>
        </p:spPr>
      </p:cxnSp>
      <p:cxnSp>
        <p:nvCxnSpPr>
          <p:cNvPr id="35" name=""/>
          <p:cNvCxnSpPr>
            <a:stCxn xmlns:a="http://schemas.openxmlformats.org/drawingml/2006/main" id="14" idx="3"/>
            <a:endCxn xmlns:a="http://schemas.openxmlformats.org/drawingml/2006/main" id="15" idx="1"/>
          </p:cNvCxnSpPr>
          <p:nvPr/>
        </p:nvCxnSpPr>
        <p:spPr>
          <a:xfrm xmlns:a="http://schemas.openxmlformats.org/drawingml/2006/main" flipH="1">
            <a:off x="2476500" y="2724627"/>
            <a:ext cx="953" cy="1962150"/>
          </a:xfrm>
          <a:prstGeom xmlns:a="http://schemas.openxmlformats.org/drawingml/2006/main" prst="straightConnector1">
            <a:avLst/>
          </a:prstGeom>
          <a:ln xmlns:a="http://schemas.openxmlformats.org/drawingml/2006/main" w="28575">
            <a:solidFill>
              <a:srgbClr val="CCD4C5"/>
            </a:solidFill>
            <a:prstDash val="solid"/>
          </a:ln>
        </p:spPr>
      </p:cxnSp>
      <p:sp>
        <p:nvSpPr>
          <p:cNvPr id="36" name="">
            <a:extLst xmlns:a="http://schemas.openxmlformats.org/drawingml/2006/main">
              <a:ext uri="{FF2B5EF4-FFF2-40B4-BE49-F238E27FC236}">
                <a16:creationId xmlns:a16="http://schemas.microsoft.com/office/drawing/2014/main" id="{D75E369F-2175-468B-B52A-574B1574264F}"/>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Understand a change</a:t>
            </a:r>
          </a:p>
        </p:txBody>
      </p:sp>
      <p:sp>
        <p:nvSpPr>
          <p:cNvPr id="2" name="">
            <a:extLst xmlns:a="http://schemas.openxmlformats.org/drawingml/2006/main">
              <a:ext uri="{FF2B5EF4-FFF2-40B4-BE49-F238E27FC236}">
                <a16:creationId xmlns:a16="http://schemas.microsoft.com/office/drawing/2014/main" id="{6216B888-F9FD-477B-8E42-64D2D7E4802C}"/>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07</a:t>
            </a:r>
          </a:p>
        </p:txBody>
      </p:sp>
      <p:sp>
        <p:nvSpPr>
          <p:cNvPr id="3" name="">
            <a:extLst xmlns:a="http://schemas.openxmlformats.org/drawingml/2006/main">
              <a:ext uri="{FF2B5EF4-FFF2-40B4-BE49-F238E27FC236}">
                <a16:creationId xmlns:a16="http://schemas.microsoft.com/office/drawing/2014/main" id="{EBED32BE-0606-4DB2-9A8A-16CA1073B1AB}"/>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When a trader exits, the plan changes</a:t>
            </a:r>
          </a:p>
        </p:txBody>
      </p:sp>
      <p:sp>
        <p:nvSpPr>
          <p:cNvPr id="4" name="">
            <a:extLst xmlns:a="http://schemas.openxmlformats.org/drawingml/2006/main">
              <a:ext uri="{FF2B5EF4-FFF2-40B4-BE49-F238E27FC236}">
                <a16:creationId xmlns:a16="http://schemas.microsoft.com/office/drawing/2014/main" id="{CFBB7A0D-B7E8-4FE5-9B34-A8F69D0F0689}"/>
              </a:ext>
            </a:extLst>
          </p:cNvPr>
          <p:cNvSpPr>
            <a:spLocks xmlns:a="http://schemas.openxmlformats.org/drawingml/2006/main" noGrp="1"/>
          </p:cNvSpPr>
          <p:nvPr/>
        </p:nvSpPr>
        <p:spPr>
          <a:xfrm xmlns:a="http://schemas.openxmlformats.org/drawingml/2006/main">
            <a:off x="609600" y="2228850"/>
            <a:ext cx="537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Before</a:t>
            </a:r>
          </a:p>
        </p:txBody>
      </p:sp>
      <p:sp>
        <p:nvSpPr>
          <p:cNvPr id="5" name="">
            <a:extLst xmlns:a="http://schemas.openxmlformats.org/drawingml/2006/main">
              <a:ext uri="{FF2B5EF4-FFF2-40B4-BE49-F238E27FC236}">
                <a16:creationId xmlns:a16="http://schemas.microsoft.com/office/drawing/2014/main" id="{4E21F709-A0C3-46A9-B98A-27F0C3E4660B}"/>
              </a:ext>
            </a:extLst>
          </p:cNvPr>
          <p:cNvSpPr>
            <a:spLocks xmlns:a="http://schemas.openxmlformats.org/drawingml/2006/main" noGrp="1"/>
          </p:cNvSpPr>
          <p:nvPr/>
        </p:nvSpPr>
        <p:spPr>
          <a:xfrm xmlns:a="http://schemas.openxmlformats.org/drawingml/2006/main">
            <a:off x="609600" y="28384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E98224"/>
                </a:solidFill>
                <a:latin typeface="Rubik"/>
                <a:ea typeface="Rubik"/>
                <a:cs typeface="Rubik"/>
              </a:defRPr>
            </a:pPr>
            <a:r>
              <a:rPr sz="2100" b="1">
                <a:solidFill>
                  <a:srgbClr val="E98224"/>
                </a:solidFill>
                <a:latin typeface="Rubik"/>
                <a:ea typeface="Rubik"/>
                <a:cs typeface="Rubik"/>
              </a:rPr>
              <a:t>A</a:t>
            </a:r>
          </a:p>
        </p:txBody>
      </p:sp>
      <p:sp>
        <p:nvSpPr>
          <p:cNvPr id="6" name="">
            <a:extLst xmlns:a="http://schemas.openxmlformats.org/drawingml/2006/main">
              <a:ext uri="{FF2B5EF4-FFF2-40B4-BE49-F238E27FC236}">
                <a16:creationId xmlns:a16="http://schemas.microsoft.com/office/drawing/2014/main" id="{A73AEE18-EDDD-4802-8533-8154793A7C03}"/>
              </a:ext>
            </a:extLst>
          </p:cNvPr>
          <p:cNvSpPr>
            <a:spLocks xmlns:a="http://schemas.openxmlformats.org/drawingml/2006/main" noGrp="1"/>
          </p:cNvSpPr>
          <p:nvPr/>
        </p:nvSpPr>
        <p:spPr>
          <a:xfrm xmlns:a="http://schemas.openxmlformats.org/drawingml/2006/main">
            <a:off x="2476500" y="2895600"/>
            <a:ext cx="2857500" cy="342900"/>
          </a:xfrm>
          <a:prstGeom xmlns:a="http://schemas.openxmlformats.org/drawingml/2006/main" prst="rect">
            <a:avLst/>
          </a:prstGeom>
          <a:solidFill xmlns:a="http://schemas.openxmlformats.org/drawingml/2006/main">
            <a:srgbClr val="E9822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488B21-B886-488A-BB17-B702B6361FEE}"/>
              </a:ext>
            </a:extLst>
          </p:cNvPr>
          <p:cNvSpPr>
            <a:spLocks xmlns:a="http://schemas.openxmlformats.org/drawingml/2006/main" noGrp="1"/>
          </p:cNvSpPr>
          <p:nvPr/>
        </p:nvSpPr>
        <p:spPr>
          <a:xfrm xmlns:a="http://schemas.openxmlformats.org/drawingml/2006/main">
            <a:off x="2628900" y="29337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251C"/>
                </a:solidFill>
                <a:latin typeface="Rubik"/>
                <a:ea typeface="Rubik"/>
                <a:cs typeface="Rubik"/>
              </a:defRPr>
            </a:pPr>
            <a:r>
              <a:rPr sz="1650" b="1">
                <a:solidFill>
                  <a:srgbClr val="17251C"/>
                </a:solidFill>
                <a:latin typeface="Rubik"/>
                <a:ea typeface="Rubik"/>
                <a:cs typeface="Rubik"/>
              </a:rPr>
              <a:t>+$600</a:t>
            </a:r>
          </a:p>
        </p:txBody>
      </p:sp>
      <p:sp>
        <p:nvSpPr>
          <p:cNvPr id="8" name="">
            <a:extLst xmlns:a="http://schemas.openxmlformats.org/drawingml/2006/main">
              <a:ext uri="{FF2B5EF4-FFF2-40B4-BE49-F238E27FC236}">
                <a16:creationId xmlns:a16="http://schemas.microsoft.com/office/drawing/2014/main" id="{6B611627-89DB-4741-8A97-D36ED4E38652}"/>
              </a:ext>
            </a:extLst>
          </p:cNvPr>
          <p:cNvSpPr>
            <a:spLocks xmlns:a="http://schemas.openxmlformats.org/drawingml/2006/main" noGrp="1"/>
          </p:cNvSpPr>
          <p:nvPr/>
        </p:nvSpPr>
        <p:spPr>
          <a:xfrm xmlns:a="http://schemas.openxmlformats.org/drawingml/2006/main">
            <a:off x="609600" y="35242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A4937"/>
                </a:solidFill>
                <a:latin typeface="Rubik"/>
                <a:ea typeface="Rubik"/>
                <a:cs typeface="Rubik"/>
              </a:defRPr>
            </a:pPr>
            <a:r>
              <a:rPr sz="2100" b="1">
                <a:solidFill>
                  <a:srgbClr val="BA4937"/>
                </a:solidFill>
                <a:latin typeface="Rubik"/>
                <a:ea typeface="Rubik"/>
                <a:cs typeface="Rubik"/>
              </a:rPr>
              <a:t>B</a:t>
            </a:r>
          </a:p>
        </p:txBody>
      </p:sp>
      <p:sp>
        <p:nvSpPr>
          <p:cNvPr id="9" name="">
            <a:extLst xmlns:a="http://schemas.openxmlformats.org/drawingml/2006/main">
              <a:ext uri="{FF2B5EF4-FFF2-40B4-BE49-F238E27FC236}">
                <a16:creationId xmlns:a16="http://schemas.microsoft.com/office/drawing/2014/main" id="{745A3C51-B371-4D03-9978-0B899CB52935}"/>
              </a:ext>
            </a:extLst>
          </p:cNvPr>
          <p:cNvSpPr>
            <a:spLocks xmlns:a="http://schemas.openxmlformats.org/drawingml/2006/main" noGrp="1"/>
          </p:cNvSpPr>
          <p:nvPr/>
        </p:nvSpPr>
        <p:spPr>
          <a:xfrm xmlns:a="http://schemas.openxmlformats.org/drawingml/2006/main">
            <a:off x="1524000" y="3581400"/>
            <a:ext cx="952500" cy="342900"/>
          </a:xfrm>
          <a:prstGeom xmlns:a="http://schemas.openxmlformats.org/drawingml/2006/main" prst="rect">
            <a:avLst/>
          </a:prstGeom>
          <a:solidFill xmlns:a="http://schemas.openxmlformats.org/drawingml/2006/main">
            <a:srgbClr val="BA493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B80963E-8AB2-4855-9645-F11979D595E6}"/>
              </a:ext>
            </a:extLst>
          </p:cNvPr>
          <p:cNvSpPr>
            <a:spLocks xmlns:a="http://schemas.openxmlformats.org/drawingml/2006/main" noGrp="1"/>
          </p:cNvSpPr>
          <p:nvPr/>
        </p:nvSpPr>
        <p:spPr>
          <a:xfrm xmlns:a="http://schemas.openxmlformats.org/drawingml/2006/main">
            <a:off x="1676400" y="3619500"/>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4F0E4"/>
                </a:solidFill>
                <a:latin typeface="Rubik"/>
                <a:ea typeface="Rubik"/>
                <a:cs typeface="Rubik"/>
              </a:defRPr>
            </a:pPr>
            <a:r>
              <a:rPr sz="1650" b="1">
                <a:solidFill>
                  <a:srgbClr val="F4F0E4"/>
                </a:solidFill>
                <a:latin typeface="Rubik"/>
                <a:ea typeface="Rubik"/>
                <a:cs typeface="Rubik"/>
              </a:rPr>
              <a:t>−$200</a:t>
            </a:r>
          </a:p>
        </p:txBody>
      </p:sp>
      <p:sp>
        <p:nvSpPr>
          <p:cNvPr id="11" name="">
            <a:extLst xmlns:a="http://schemas.openxmlformats.org/drawingml/2006/main">
              <a:ext uri="{FF2B5EF4-FFF2-40B4-BE49-F238E27FC236}">
                <a16:creationId xmlns:a16="http://schemas.microsoft.com/office/drawing/2014/main" id="{79D7588D-B603-497E-B77E-A97A526298DA}"/>
              </a:ext>
            </a:extLst>
          </p:cNvPr>
          <p:cNvSpPr>
            <a:spLocks xmlns:a="http://schemas.openxmlformats.org/drawingml/2006/main" noGrp="1"/>
          </p:cNvSpPr>
          <p:nvPr/>
        </p:nvSpPr>
        <p:spPr>
          <a:xfrm xmlns:a="http://schemas.openxmlformats.org/drawingml/2006/main">
            <a:off x="609600" y="42100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C</a:t>
            </a:r>
          </a:p>
        </p:txBody>
      </p:sp>
      <p:sp>
        <p:nvSpPr>
          <p:cNvPr id="12" name="">
            <a:extLst xmlns:a="http://schemas.openxmlformats.org/drawingml/2006/main">
              <a:ext uri="{FF2B5EF4-FFF2-40B4-BE49-F238E27FC236}">
                <a16:creationId xmlns:a16="http://schemas.microsoft.com/office/drawing/2014/main" id="{C9CEBD02-FC0A-415F-AB37-5F5A3767C1B3}"/>
              </a:ext>
            </a:extLst>
          </p:cNvPr>
          <p:cNvSpPr>
            <a:spLocks xmlns:a="http://schemas.openxmlformats.org/drawingml/2006/main" noGrp="1"/>
          </p:cNvSpPr>
          <p:nvPr/>
        </p:nvSpPr>
        <p:spPr>
          <a:xfrm xmlns:a="http://schemas.openxmlformats.org/drawingml/2006/main">
            <a:off x="2476500" y="4267200"/>
            <a:ext cx="1905000" cy="342900"/>
          </a:xfrm>
          <a:prstGeom xmlns:a="http://schemas.openxmlformats.org/drawingml/2006/main" prst="rect">
            <a:avLst/>
          </a:prstGeom>
          <a:solidFill xmlns:a="http://schemas.openxmlformats.org/drawingml/2006/main">
            <a:srgbClr val="143A2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34897A2-C8C9-46B6-8DC6-BCDDED97FAE7}"/>
              </a:ext>
            </a:extLst>
          </p:cNvPr>
          <p:cNvSpPr>
            <a:spLocks xmlns:a="http://schemas.openxmlformats.org/drawingml/2006/main" noGrp="1"/>
          </p:cNvSpPr>
          <p:nvPr/>
        </p:nvSpPr>
        <p:spPr>
          <a:xfrm xmlns:a="http://schemas.openxmlformats.org/drawingml/2006/main">
            <a:off x="2628900" y="4305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4F0E4"/>
                </a:solidFill>
                <a:latin typeface="Rubik"/>
                <a:ea typeface="Rubik"/>
                <a:cs typeface="Rubik"/>
              </a:defRPr>
            </a:pPr>
            <a:r>
              <a:rPr sz="1650" b="1">
                <a:solidFill>
                  <a:srgbClr val="F4F0E4"/>
                </a:solidFill>
                <a:latin typeface="Rubik"/>
                <a:ea typeface="Rubik"/>
                <a:cs typeface="Rubik"/>
              </a:rPr>
              <a:t>+$400</a:t>
            </a:r>
          </a:p>
        </p:txBody>
      </p:sp>
      <p:sp>
        <p:nvSpPr>
          <p:cNvPr id="14" name="">
            <a:extLst xmlns:a="http://schemas.openxmlformats.org/drawingml/2006/main">
              <a:ext uri="{FF2B5EF4-FFF2-40B4-BE49-F238E27FC236}">
                <a16:creationId xmlns:a16="http://schemas.microsoft.com/office/drawing/2014/main" id="{8BB972FB-3618-47C4-B80D-DBDE828265ED}"/>
              </a:ext>
            </a:extLst>
          </p:cNvPr>
          <p:cNvSpPr>
            <a:spLocks xmlns:a="http://schemas.openxmlformats.org/drawingml/2006/main" noGrp="1"/>
          </p:cNvSpPr>
          <p:nvPr/>
        </p:nvSpPr>
        <p:spPr>
          <a:xfrm xmlns:a="http://schemas.openxmlformats.org/drawingml/2006/main">
            <a:off x="2476500" y="272415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CF5E96-2577-4AC5-A0B2-430D72A95A68}"/>
              </a:ext>
            </a:extLst>
          </p:cNvPr>
          <p:cNvSpPr>
            <a:spLocks xmlns:a="http://schemas.openxmlformats.org/drawingml/2006/main" noGrp="1"/>
          </p:cNvSpPr>
          <p:nvPr/>
        </p:nvSpPr>
        <p:spPr>
          <a:xfrm xmlns:a="http://schemas.openxmlformats.org/drawingml/2006/main">
            <a:off x="2476500" y="46863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CE59E36-22CE-4E9D-AE5A-0A98996502A4}"/>
              </a:ext>
            </a:extLst>
          </p:cNvPr>
          <p:cNvSpPr>
            <a:spLocks xmlns:a="http://schemas.openxmlformats.org/drawingml/2006/main" noGrp="1"/>
          </p:cNvSpPr>
          <p:nvPr/>
        </p:nvSpPr>
        <p:spPr>
          <a:xfrm xmlns:a="http://schemas.openxmlformats.org/drawingml/2006/main">
            <a:off x="609600" y="4895850"/>
            <a:ext cx="5372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7251C"/>
                </a:solidFill>
                <a:latin typeface="Rubik"/>
                <a:ea typeface="Rubik"/>
                <a:cs typeface="Rubik"/>
              </a:defRPr>
            </a:pPr>
            <a:r>
              <a:rPr sz="4200" b="1">
                <a:solidFill>
                  <a:srgbClr val="17251C"/>
                </a:solidFill>
                <a:latin typeface="Rubik"/>
                <a:ea typeface="Rubik"/>
                <a:cs typeface="Rubik"/>
              </a:rPr>
              <a:t>+$800</a:t>
            </a:r>
          </a:p>
        </p:txBody>
      </p:sp>
      <p:sp>
        <p:nvSpPr>
          <p:cNvPr id="18" name="">
            <a:extLst xmlns:a="http://schemas.openxmlformats.org/drawingml/2006/main">
              <a:ext uri="{FF2B5EF4-FFF2-40B4-BE49-F238E27FC236}">
                <a16:creationId xmlns:a16="http://schemas.microsoft.com/office/drawing/2014/main" id="{111CFBAA-4B78-494F-86E8-0EC894AAE141}"/>
              </a:ext>
            </a:extLst>
          </p:cNvPr>
          <p:cNvSpPr>
            <a:spLocks xmlns:a="http://schemas.openxmlformats.org/drawingml/2006/main" noGrp="1"/>
          </p:cNvSpPr>
          <p:nvPr/>
        </p:nvSpPr>
        <p:spPr>
          <a:xfrm xmlns:a="http://schemas.openxmlformats.org/drawingml/2006/main">
            <a:off x="6210300" y="2228850"/>
            <a:ext cx="537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After A exits</a:t>
            </a:r>
          </a:p>
        </p:txBody>
      </p:sp>
      <p:sp>
        <p:nvSpPr>
          <p:cNvPr id="19" name="">
            <a:extLst xmlns:a="http://schemas.openxmlformats.org/drawingml/2006/main">
              <a:ext uri="{FF2B5EF4-FFF2-40B4-BE49-F238E27FC236}">
                <a16:creationId xmlns:a16="http://schemas.microsoft.com/office/drawing/2014/main" id="{4D0C4A56-9091-4013-9F0F-0AB990A37C74}"/>
              </a:ext>
            </a:extLst>
          </p:cNvPr>
          <p:cNvSpPr>
            <a:spLocks xmlns:a="http://schemas.openxmlformats.org/drawingml/2006/main" noGrp="1"/>
          </p:cNvSpPr>
          <p:nvPr/>
        </p:nvSpPr>
        <p:spPr>
          <a:xfrm xmlns:a="http://schemas.openxmlformats.org/drawingml/2006/main">
            <a:off x="6210300" y="28384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E98224"/>
                </a:solidFill>
                <a:latin typeface="Rubik"/>
                <a:ea typeface="Rubik"/>
                <a:cs typeface="Rubik"/>
              </a:defRPr>
            </a:pPr>
            <a:r>
              <a:rPr sz="2100" b="1">
                <a:solidFill>
                  <a:srgbClr val="E98224"/>
                </a:solidFill>
                <a:latin typeface="Rubik"/>
                <a:ea typeface="Rubik"/>
                <a:cs typeface="Rubik"/>
              </a:rPr>
              <a:t>A</a:t>
            </a:r>
          </a:p>
        </p:txBody>
      </p:sp>
      <p:sp>
        <p:nvSpPr>
          <p:cNvPr id="20" name="">
            <a:extLst xmlns:a="http://schemas.openxmlformats.org/drawingml/2006/main">
              <a:ext uri="{FF2B5EF4-FFF2-40B4-BE49-F238E27FC236}">
                <a16:creationId xmlns:a16="http://schemas.microsoft.com/office/drawing/2014/main" id="{4AA2E0D8-FFF1-41AA-96DA-16683074A76E}"/>
              </a:ext>
            </a:extLst>
          </p:cNvPr>
          <p:cNvSpPr>
            <a:spLocks xmlns:a="http://schemas.openxmlformats.org/drawingml/2006/main" noGrp="1"/>
          </p:cNvSpPr>
          <p:nvPr/>
        </p:nvSpPr>
        <p:spPr>
          <a:xfrm xmlns:a="http://schemas.openxmlformats.org/drawingml/2006/main">
            <a:off x="8077200" y="2895600"/>
            <a:ext cx="2857500" cy="342900"/>
          </a:xfrm>
          <a:prstGeom xmlns:a="http://schemas.openxmlformats.org/drawingml/2006/main" prst="rect">
            <a:avLst/>
          </a:prstGeom>
          <a:noFill xmlns:a="http://schemas.openxmlformats.org/drawingml/2006/main"/>
          <a:ln xmlns:a="http://schemas.openxmlformats.org/drawingml/2006/main" w="14288">
            <a:solidFill>
              <a:srgbClr val="E98224"/>
            </a:solidFill>
            <a:prstDash val="dash"/>
          </a:ln>
        </p:spPr>
      </p:sp>
      <p:sp>
        <p:nvSpPr>
          <p:cNvPr id="21" name="">
            <a:extLst xmlns:a="http://schemas.openxmlformats.org/drawingml/2006/main">
              <a:ext uri="{FF2B5EF4-FFF2-40B4-BE49-F238E27FC236}">
                <a16:creationId xmlns:a16="http://schemas.microsoft.com/office/drawing/2014/main" id="{52B4E41F-B807-4269-8047-041AA2AC2151}"/>
              </a:ext>
            </a:extLst>
          </p:cNvPr>
          <p:cNvSpPr>
            <a:spLocks xmlns:a="http://schemas.openxmlformats.org/drawingml/2006/main" noGrp="1"/>
          </p:cNvSpPr>
          <p:nvPr/>
        </p:nvSpPr>
        <p:spPr>
          <a:xfrm xmlns:a="http://schemas.openxmlformats.org/drawingml/2006/main">
            <a:off x="8229600" y="29337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17251C"/>
                </a:solidFill>
                <a:latin typeface="Rubik"/>
                <a:ea typeface="Rubik"/>
                <a:cs typeface="Rubik"/>
              </a:defRPr>
            </a:pPr>
            <a:r>
              <a:rPr sz="1650" b="1">
                <a:solidFill>
                  <a:srgbClr val="17251C"/>
                </a:solidFill>
                <a:latin typeface="Rubik"/>
                <a:ea typeface="Rubik"/>
                <a:cs typeface="Rubik"/>
              </a:rPr>
              <a:t>0</a:t>
            </a:r>
          </a:p>
        </p:txBody>
      </p:sp>
      <p:sp>
        <p:nvSpPr>
          <p:cNvPr id="22" name="">
            <a:extLst xmlns:a="http://schemas.openxmlformats.org/drawingml/2006/main">
              <a:ext uri="{FF2B5EF4-FFF2-40B4-BE49-F238E27FC236}">
                <a16:creationId xmlns:a16="http://schemas.microsoft.com/office/drawing/2014/main" id="{FBB05810-91BE-4764-A329-A205E7878D9C}"/>
              </a:ext>
            </a:extLst>
          </p:cNvPr>
          <p:cNvSpPr>
            <a:spLocks xmlns:a="http://schemas.openxmlformats.org/drawingml/2006/main" noGrp="1"/>
          </p:cNvSpPr>
          <p:nvPr/>
        </p:nvSpPr>
        <p:spPr>
          <a:xfrm xmlns:a="http://schemas.openxmlformats.org/drawingml/2006/main">
            <a:off x="6210300" y="35242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BA4937"/>
                </a:solidFill>
                <a:latin typeface="Rubik"/>
                <a:ea typeface="Rubik"/>
                <a:cs typeface="Rubik"/>
              </a:defRPr>
            </a:pPr>
            <a:r>
              <a:rPr sz="2100" b="1">
                <a:solidFill>
                  <a:srgbClr val="BA4937"/>
                </a:solidFill>
                <a:latin typeface="Rubik"/>
                <a:ea typeface="Rubik"/>
                <a:cs typeface="Rubik"/>
              </a:rPr>
              <a:t>B</a:t>
            </a:r>
          </a:p>
        </p:txBody>
      </p:sp>
      <p:sp>
        <p:nvSpPr>
          <p:cNvPr id="23" name="">
            <a:extLst xmlns:a="http://schemas.openxmlformats.org/drawingml/2006/main">
              <a:ext uri="{FF2B5EF4-FFF2-40B4-BE49-F238E27FC236}">
                <a16:creationId xmlns:a16="http://schemas.microsoft.com/office/drawing/2014/main" id="{1C20C976-886F-4D72-BCAB-D02C4833CF12}"/>
              </a:ext>
            </a:extLst>
          </p:cNvPr>
          <p:cNvSpPr>
            <a:spLocks xmlns:a="http://schemas.openxmlformats.org/drawingml/2006/main" noGrp="1"/>
          </p:cNvSpPr>
          <p:nvPr/>
        </p:nvSpPr>
        <p:spPr>
          <a:xfrm xmlns:a="http://schemas.openxmlformats.org/drawingml/2006/main">
            <a:off x="7124700" y="3581400"/>
            <a:ext cx="952500" cy="342900"/>
          </a:xfrm>
          <a:prstGeom xmlns:a="http://schemas.openxmlformats.org/drawingml/2006/main" prst="rect">
            <a:avLst/>
          </a:prstGeom>
          <a:solidFill xmlns:a="http://schemas.openxmlformats.org/drawingml/2006/main">
            <a:srgbClr val="BA493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8F09C48-9488-4D39-A93D-A95B75C1118B}"/>
              </a:ext>
            </a:extLst>
          </p:cNvPr>
          <p:cNvSpPr>
            <a:spLocks xmlns:a="http://schemas.openxmlformats.org/drawingml/2006/main" noGrp="1"/>
          </p:cNvSpPr>
          <p:nvPr/>
        </p:nvSpPr>
        <p:spPr>
          <a:xfrm xmlns:a="http://schemas.openxmlformats.org/drawingml/2006/main">
            <a:off x="7277100" y="3619500"/>
            <a:ext cx="800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4F0E4"/>
                </a:solidFill>
                <a:latin typeface="Rubik"/>
                <a:ea typeface="Rubik"/>
                <a:cs typeface="Rubik"/>
              </a:defRPr>
            </a:pPr>
            <a:r>
              <a:rPr sz="1650" b="1">
                <a:solidFill>
                  <a:srgbClr val="F4F0E4"/>
                </a:solidFill>
                <a:latin typeface="Rubik"/>
                <a:ea typeface="Rubik"/>
                <a:cs typeface="Rubik"/>
              </a:rPr>
              <a:t>−$200</a:t>
            </a:r>
          </a:p>
        </p:txBody>
      </p:sp>
      <p:sp>
        <p:nvSpPr>
          <p:cNvPr id="25" name="">
            <a:extLst xmlns:a="http://schemas.openxmlformats.org/drawingml/2006/main">
              <a:ext uri="{FF2B5EF4-FFF2-40B4-BE49-F238E27FC236}">
                <a16:creationId xmlns:a16="http://schemas.microsoft.com/office/drawing/2014/main" id="{383406E6-7275-499D-AD63-60D0E373E342}"/>
              </a:ext>
            </a:extLst>
          </p:cNvPr>
          <p:cNvSpPr>
            <a:spLocks xmlns:a="http://schemas.openxmlformats.org/drawingml/2006/main" noGrp="1"/>
          </p:cNvSpPr>
          <p:nvPr/>
        </p:nvSpPr>
        <p:spPr>
          <a:xfrm xmlns:a="http://schemas.openxmlformats.org/drawingml/2006/main">
            <a:off x="6210300" y="42100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C</a:t>
            </a:r>
          </a:p>
        </p:txBody>
      </p:sp>
      <p:sp>
        <p:nvSpPr>
          <p:cNvPr id="26" name="">
            <a:extLst xmlns:a="http://schemas.openxmlformats.org/drawingml/2006/main">
              <a:ext uri="{FF2B5EF4-FFF2-40B4-BE49-F238E27FC236}">
                <a16:creationId xmlns:a16="http://schemas.microsoft.com/office/drawing/2014/main" id="{7EE67E37-D45F-4E54-9BDC-8DA1D1B8B829}"/>
              </a:ext>
            </a:extLst>
          </p:cNvPr>
          <p:cNvSpPr>
            <a:spLocks xmlns:a="http://schemas.openxmlformats.org/drawingml/2006/main" noGrp="1"/>
          </p:cNvSpPr>
          <p:nvPr/>
        </p:nvSpPr>
        <p:spPr>
          <a:xfrm xmlns:a="http://schemas.openxmlformats.org/drawingml/2006/main">
            <a:off x="8077200" y="4267200"/>
            <a:ext cx="1905000" cy="342900"/>
          </a:xfrm>
          <a:prstGeom xmlns:a="http://schemas.openxmlformats.org/drawingml/2006/main" prst="rect">
            <a:avLst/>
          </a:prstGeom>
          <a:solidFill xmlns:a="http://schemas.openxmlformats.org/drawingml/2006/main">
            <a:srgbClr val="143A2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233DA36-8A64-4248-9C2C-27FD932B8A9E}"/>
              </a:ext>
            </a:extLst>
          </p:cNvPr>
          <p:cNvSpPr>
            <a:spLocks xmlns:a="http://schemas.openxmlformats.org/drawingml/2006/main" noGrp="1"/>
          </p:cNvSpPr>
          <p:nvPr/>
        </p:nvSpPr>
        <p:spPr>
          <a:xfrm xmlns:a="http://schemas.openxmlformats.org/drawingml/2006/main">
            <a:off x="8229600" y="4305300"/>
            <a:ext cx="2552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650" b="1">
                <a:solidFill>
                  <a:srgbClr val="F4F0E4"/>
                </a:solidFill>
                <a:latin typeface="Rubik"/>
                <a:ea typeface="Rubik"/>
                <a:cs typeface="Rubik"/>
              </a:defRPr>
            </a:pPr>
            <a:r>
              <a:rPr sz="1650" b="1">
                <a:solidFill>
                  <a:srgbClr val="F4F0E4"/>
                </a:solidFill>
                <a:latin typeface="Rubik"/>
                <a:ea typeface="Rubik"/>
                <a:cs typeface="Rubik"/>
              </a:rPr>
              <a:t>+$400</a:t>
            </a:r>
          </a:p>
        </p:txBody>
      </p:sp>
      <p:sp>
        <p:nvSpPr>
          <p:cNvPr id="28" name="">
            <a:extLst xmlns:a="http://schemas.openxmlformats.org/drawingml/2006/main">
              <a:ext uri="{FF2B5EF4-FFF2-40B4-BE49-F238E27FC236}">
                <a16:creationId xmlns:a16="http://schemas.microsoft.com/office/drawing/2014/main" id="{7CC1C344-F3F7-46CE-83A5-64508422E69C}"/>
              </a:ext>
            </a:extLst>
          </p:cNvPr>
          <p:cNvSpPr>
            <a:spLocks xmlns:a="http://schemas.openxmlformats.org/drawingml/2006/main" noGrp="1"/>
          </p:cNvSpPr>
          <p:nvPr/>
        </p:nvSpPr>
        <p:spPr>
          <a:xfrm xmlns:a="http://schemas.openxmlformats.org/drawingml/2006/main">
            <a:off x="8077200" y="272415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1E34B1CB-F55F-4BB1-A9DC-5ED1190B5141}"/>
              </a:ext>
            </a:extLst>
          </p:cNvPr>
          <p:cNvSpPr>
            <a:spLocks xmlns:a="http://schemas.openxmlformats.org/drawingml/2006/main" noGrp="1"/>
          </p:cNvSpPr>
          <p:nvPr/>
        </p:nvSpPr>
        <p:spPr>
          <a:xfrm xmlns:a="http://schemas.openxmlformats.org/drawingml/2006/main">
            <a:off x="8077200" y="46863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3E351EF-F49C-48F3-8CB2-9B9B7F45EA2A}"/>
              </a:ext>
            </a:extLst>
          </p:cNvPr>
          <p:cNvSpPr>
            <a:spLocks xmlns:a="http://schemas.openxmlformats.org/drawingml/2006/main" noGrp="1"/>
          </p:cNvSpPr>
          <p:nvPr/>
        </p:nvSpPr>
        <p:spPr>
          <a:xfrm xmlns:a="http://schemas.openxmlformats.org/drawingml/2006/main">
            <a:off x="6210300" y="4895850"/>
            <a:ext cx="5372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200" b="1">
                <a:solidFill>
                  <a:srgbClr val="17251C"/>
                </a:solidFill>
                <a:latin typeface="Rubik"/>
                <a:ea typeface="Rubik"/>
                <a:cs typeface="Rubik"/>
              </a:defRPr>
            </a:pPr>
            <a:r>
              <a:rPr sz="4200" b="1">
                <a:solidFill>
                  <a:srgbClr val="17251C"/>
                </a:solidFill>
                <a:latin typeface="Rubik"/>
                <a:ea typeface="Rubik"/>
                <a:cs typeface="Rubik"/>
              </a:rPr>
              <a:t>+$200</a:t>
            </a:r>
          </a:p>
        </p:txBody>
      </p:sp>
      <p:sp>
        <p:nvSpPr>
          <p:cNvPr id="32" name="">
            <a:extLst xmlns:a="http://schemas.openxmlformats.org/drawingml/2006/main">
              <a:ext uri="{FF2B5EF4-FFF2-40B4-BE49-F238E27FC236}">
                <a16:creationId xmlns:a16="http://schemas.microsoft.com/office/drawing/2014/main" id="{D59F2B22-B787-4E5C-A14A-4D412E58820F}"/>
              </a:ext>
            </a:extLst>
          </p:cNvPr>
          <p:cNvSpPr>
            <a:spLocks xmlns:a="http://schemas.openxmlformats.org/drawingml/2006/main" noGrp="1"/>
          </p:cNvSpPr>
          <p:nvPr/>
        </p:nvSpPr>
        <p:spPr>
          <a:xfrm xmlns:a="http://schemas.openxmlformats.org/drawingml/2006/main">
            <a:off x="609600" y="5734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43A2B"/>
                </a:solidFill>
                <a:latin typeface="Rubik"/>
                <a:ea typeface="Rubik"/>
                <a:cs typeface="Rubik"/>
              </a:defRPr>
            </a:pPr>
            <a:r>
              <a:rPr sz="2100" b="0">
                <a:solidFill>
                  <a:srgbClr val="143A2B"/>
                </a:solidFill>
                <a:latin typeface="Rubik"/>
                <a:ea typeface="Rubik"/>
                <a:cs typeface="Rubik"/>
              </a:rPr>
              <a:t>You can see which contribution changed.</a:t>
            </a:r>
          </a:p>
        </p:txBody>
      </p:sp>
      <p:sp>
        <p:nvSpPr>
          <p:cNvPr id="33" name="">
            <a:extLst xmlns:a="http://schemas.openxmlformats.org/drawingml/2006/main">
              <a:ext uri="{FF2B5EF4-FFF2-40B4-BE49-F238E27FC236}">
                <a16:creationId xmlns:a16="http://schemas.microsoft.com/office/drawing/2014/main" id="{31D02883-FE73-4AC2-9037-214FDC35AC5D}"/>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Illustration. B/C inputs unchanged, gross cap not binding. Held closes follow separate rules.</a:t>
            </a:r>
          </a:p>
        </p:txBody>
      </p:sp>
    </p:spTree>
    <p:extLst>
      <p:ext uri="{BB962C8B-B14F-4D97-AF65-F5344CB8AC3E}">
        <p14:creationId xmlns:p14="http://schemas.microsoft.com/office/powerpoint/2010/main" val="1715282302"/>
      </p:ext>
    </p:extLst>
  </p:cSld>
</p:sld>
</file>

<file path=ppt/slides/slide8.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79E52B5-C12C-49C5-8F65-BBDB8E5C1F7F}"/>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Read the run activity</a:t>
            </a:r>
          </a:p>
        </p:txBody>
      </p:sp>
      <p:sp>
        <p:nvSpPr>
          <p:cNvPr id="2" name="">
            <a:extLst xmlns:a="http://schemas.openxmlformats.org/drawingml/2006/main">
              <a:ext uri="{FF2B5EF4-FFF2-40B4-BE49-F238E27FC236}">
                <a16:creationId xmlns:a16="http://schemas.microsoft.com/office/drawing/2014/main" id="{3C3F69CD-D57E-41D3-86CC-CF7DC9A497D0}"/>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08</a:t>
            </a:r>
          </a:p>
        </p:txBody>
      </p:sp>
      <p:sp>
        <p:nvSpPr>
          <p:cNvPr id="3" name="">
            <a:extLst xmlns:a="http://schemas.openxmlformats.org/drawingml/2006/main">
              <a:ext uri="{FF2B5EF4-FFF2-40B4-BE49-F238E27FC236}">
                <a16:creationId xmlns:a16="http://schemas.microsoft.com/office/drawing/2014/main" id="{06208318-4B61-43E1-8291-F89AA3076127}"/>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The demo shows activity and interruptions</a:t>
            </a:r>
          </a:p>
        </p:txBody>
      </p:sp>
      <p:sp>
        <p:nvSpPr>
          <p:cNvPr id="4" name="">
            <a:extLst xmlns:a="http://schemas.openxmlformats.org/drawingml/2006/main">
              <a:ext uri="{FF2B5EF4-FFF2-40B4-BE49-F238E27FC236}">
                <a16:creationId xmlns:a16="http://schemas.microsoft.com/office/drawing/2014/main" id="{067CEF87-660F-4E01-A282-DF9F74474A60}"/>
              </a:ext>
            </a:extLst>
          </p:cNvPr>
          <p:cNvSpPr>
            <a:spLocks xmlns:a="http://schemas.openxmlformats.org/drawingml/2006/main" noGrp="1"/>
          </p:cNvSpPr>
          <p:nvPr/>
        </p:nvSpPr>
        <p:spPr>
          <a:xfrm xmlns:a="http://schemas.openxmlformats.org/drawingml/2006/main">
            <a:off x="609600" y="20002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1">
                <a:solidFill>
                  <a:srgbClr val="143A2B"/>
                </a:solidFill>
                <a:latin typeface="Rubik"/>
                <a:ea typeface="Rubik"/>
                <a:cs typeface="Rubik"/>
              </a:defRPr>
            </a:pPr>
            <a:r>
              <a:rPr sz="1950" b="1">
                <a:solidFill>
                  <a:srgbClr val="143A2B"/>
                </a:solidFill>
                <a:latin typeface="Rubik"/>
                <a:ea typeface="Rubik"/>
                <a:cs typeface="Rubik"/>
              </a:rPr>
              <a:t>Paper / dry version</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f008c9be76b4cd0"/>
          <a:srcRect xmlns:a="http://schemas.openxmlformats.org/drawingml/2006/main" l="0" t="73308" r="0" b="0"/>
          <a:stretch xmlns:a="http://schemas.openxmlformats.org/drawingml/2006/main"/>
        </p:blipFill>
        <p:spPr>
          <a:xfrm xmlns:a="http://schemas.openxmlformats.org/drawingml/2006/main">
            <a:off x="609600" y="2628900"/>
            <a:ext cx="10972800" cy="267262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6805F97-DBFA-4C82-B3FC-954C91D9FEE5}"/>
              </a:ext>
            </a:extLst>
          </p:cNvPr>
          <p:cNvSpPr>
            <a:spLocks xmlns:a="http://schemas.openxmlformats.org/drawingml/2006/main" noGrp="1"/>
          </p:cNvSpPr>
          <p:nvPr/>
        </p:nvSpPr>
        <p:spPr>
          <a:xfrm xmlns:a="http://schemas.openxmlformats.org/drawingml/2006/main">
            <a:off x="7905750" y="5486400"/>
            <a:ext cx="3676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1">
                <a:solidFill>
                  <a:srgbClr val="BA4937"/>
                </a:solidFill>
                <a:latin typeface="Rubik"/>
                <a:ea typeface="Rubik"/>
                <a:cs typeface="Rubik"/>
              </a:defRPr>
            </a:pPr>
            <a:r>
              <a:rPr sz="2025" b="1">
                <a:solidFill>
                  <a:srgbClr val="BA4937"/>
                </a:solidFill>
                <a:latin typeface="Rubik"/>
                <a:ea typeface="Rubik"/>
                <a:cs typeface="Rubik"/>
              </a:rPr>
              <a:t>Failed dry run</a:t>
            </a:r>
          </a:p>
        </p:txBody>
      </p:sp>
      <p:sp>
        <p:nvSpPr>
          <p:cNvPr id="7" name="">
            <a:extLst xmlns:a="http://schemas.openxmlformats.org/drawingml/2006/main">
              <a:ext uri="{FF2B5EF4-FFF2-40B4-BE49-F238E27FC236}">
                <a16:creationId xmlns:a16="http://schemas.microsoft.com/office/drawing/2014/main" id="{731C30D8-175F-462F-970B-C1D43EED82A7}"/>
              </a:ext>
            </a:extLst>
          </p:cNvPr>
          <p:cNvSpPr>
            <a:spLocks xmlns:a="http://schemas.openxmlformats.org/drawingml/2006/main" noGrp="1"/>
          </p:cNvSpPr>
          <p:nvPr/>
        </p:nvSpPr>
        <p:spPr>
          <a:xfrm xmlns:a="http://schemas.openxmlformats.org/drawingml/2006/main">
            <a:off x="609600" y="552450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Each cell is one scheduled run.</a:t>
            </a:r>
          </a:p>
        </p:txBody>
      </p:sp>
      <p:sp>
        <p:nvSpPr>
          <p:cNvPr id="8" name="">
            <a:extLst xmlns:a="http://schemas.openxmlformats.org/drawingml/2006/main">
              <a:ext uri="{FF2B5EF4-FFF2-40B4-BE49-F238E27FC236}">
                <a16:creationId xmlns:a16="http://schemas.microsoft.com/office/drawing/2014/main" id="{167B6D73-71E8-4F04-9D74-AE376F876C9A}"/>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7 October, run 15:30 SGT. Green: completed dry activity. Red: failed. Funded fills unverified.</a:t>
            </a:r>
          </a:p>
        </p:txBody>
      </p:sp>
    </p:spTree>
    <p:extLst>
      <p:ext uri="{BB962C8B-B14F-4D97-AF65-F5344CB8AC3E}">
        <p14:creationId xmlns:p14="http://schemas.microsoft.com/office/powerpoint/2010/main" val="1426819365"/>
      </p:ext>
    </p:extLst>
  </p:cSld>
</p:sld>
</file>

<file path=ppt/slides/slide9.xml><?xml version="1.0" encoding="utf-8"?>
<p:sld xmlns:p="http://schemas.openxmlformats.org/presentationml/2006/main">
  <p:cSld>
    <p:bg>
      <p:bgPr>
        <a:solidFill xmlns:a="http://schemas.openxmlformats.org/drawingml/2006/main">
          <a:srgbClr val="143A2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45F553-65A7-4CBD-BD4B-A01F918EAF08}"/>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An outcome to inspect</a:t>
            </a:r>
          </a:p>
        </p:txBody>
      </p:sp>
      <p:sp>
        <p:nvSpPr>
          <p:cNvPr id="2" name="">
            <a:extLst xmlns:a="http://schemas.openxmlformats.org/drawingml/2006/main">
              <a:ext uri="{FF2B5EF4-FFF2-40B4-BE49-F238E27FC236}">
                <a16:creationId xmlns:a16="http://schemas.microsoft.com/office/drawing/2014/main" id="{C3CF01C3-5600-4EC6-BA98-D65D0822E8D2}"/>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CBD9C8"/>
                </a:solidFill>
                <a:latin typeface="Rubik"/>
                <a:ea typeface="Rubik"/>
                <a:cs typeface="Rubik"/>
              </a:defRPr>
            </a:pPr>
            <a:r>
              <a:rPr sz="1350" b="0">
                <a:solidFill>
                  <a:srgbClr val="CBD9C8"/>
                </a:solidFill>
                <a:latin typeface="Rubik"/>
                <a:ea typeface="Rubik"/>
                <a:cs typeface="Rubik"/>
              </a:rPr>
              <a:t>09</a:t>
            </a:r>
          </a:p>
        </p:txBody>
      </p:sp>
      <p:sp>
        <p:nvSpPr>
          <p:cNvPr id="3" name="">
            <a:extLst xmlns:a="http://schemas.openxmlformats.org/drawingml/2006/main">
              <a:ext uri="{FF2B5EF4-FFF2-40B4-BE49-F238E27FC236}">
                <a16:creationId xmlns:a16="http://schemas.microsoft.com/office/drawing/2014/main" id="{AE0B3F7E-B3D2-4246-8300-A46D218EE74A}"/>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F4F0E4"/>
                </a:solidFill>
                <a:latin typeface="Athelas"/>
                <a:ea typeface="Athelas"/>
                <a:cs typeface="Athelas"/>
              </a:defRPr>
            </a:pPr>
            <a:r>
              <a:rPr sz="3750" b="0">
                <a:solidFill>
                  <a:srgbClr val="F4F0E4"/>
                </a:solidFill>
                <a:latin typeface="Athelas"/>
                <a:ea typeface="Athelas"/>
                <a:cs typeface="Athelas"/>
              </a:rPr>
              <a:t>Paper results show simulated behavior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aec2fbd6db64ac7"/>
          <a:srcRect xmlns:a="http://schemas.openxmlformats.org/drawingml/2006/main" l="0" t="0" r="0" b="32325"/>
          <a:stretch xmlns:a="http://schemas.openxmlformats.org/drawingml/2006/main"/>
        </p:blipFill>
        <p:spPr>
          <a:xfrm xmlns:a="http://schemas.openxmlformats.org/drawingml/2006/main">
            <a:off x="609600" y="1752600"/>
            <a:ext cx="6096000" cy="444407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D7AD032-5D6C-440F-ADE1-B91CD0025E0B}"/>
              </a:ext>
            </a:extLst>
          </p:cNvPr>
          <p:cNvSpPr>
            <a:spLocks xmlns:a="http://schemas.openxmlformats.org/drawingml/2006/main" noGrp="1"/>
          </p:cNvSpPr>
          <p:nvPr/>
        </p:nvSpPr>
        <p:spPr>
          <a:xfrm xmlns:a="http://schemas.openxmlformats.org/drawingml/2006/main">
            <a:off x="7848600" y="2057400"/>
            <a:ext cx="3733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F4F0E4"/>
                </a:solidFill>
                <a:latin typeface="Rubik"/>
                <a:ea typeface="Rubik"/>
                <a:cs typeface="Rubik"/>
              </a:defRPr>
            </a:pPr>
            <a:r>
              <a:rPr sz="2250" b="1">
                <a:solidFill>
                  <a:srgbClr val="F4F0E4"/>
                </a:solidFill>
                <a:latin typeface="Rubik"/>
                <a:ea typeface="Rubik"/>
                <a:cs typeface="Rubik"/>
              </a:rPr>
              <a:t>Change since the</a:t>
            </a:r>
          </a:p>
          <a:p xmlns:a="http://schemas.openxmlformats.org/drawingml/2006/main">
            <a:pPr algn="l">
              <a:defRPr sz="2250" b="1">
                <a:solidFill>
                  <a:srgbClr val="F4F0E4"/>
                </a:solidFill>
                <a:latin typeface="Rubik"/>
                <a:ea typeface="Rubik"/>
                <a:cs typeface="Rubik"/>
              </a:defRPr>
            </a:pPr>
            <a:r>
              <a:rPr sz="2250" b="1">
                <a:solidFill>
                  <a:srgbClr val="F4F0E4"/>
                </a:solidFill>
                <a:latin typeface="Rubik"/>
                <a:ea typeface="Rubik"/>
                <a:cs typeface="Rubik"/>
              </a:rPr>
              <a:t>model started</a:t>
            </a:r>
          </a:p>
        </p:txBody>
      </p:sp>
      <p:sp>
        <p:nvSpPr>
          <p:cNvPr id="6" name="">
            <a:extLst xmlns:a="http://schemas.openxmlformats.org/drawingml/2006/main">
              <a:ext uri="{FF2B5EF4-FFF2-40B4-BE49-F238E27FC236}">
                <a16:creationId xmlns:a16="http://schemas.microsoft.com/office/drawing/2014/main" id="{1273165E-3EC8-4D03-8DF6-A7F1E6F77943}"/>
              </a:ext>
            </a:extLst>
          </p:cNvPr>
          <p:cNvSpPr>
            <a:spLocks xmlns:a="http://schemas.openxmlformats.org/drawingml/2006/main" noGrp="1"/>
          </p:cNvSpPr>
          <p:nvPr/>
        </p:nvSpPr>
        <p:spPr>
          <a:xfrm xmlns:a="http://schemas.openxmlformats.org/drawingml/2006/main">
            <a:off x="7848600" y="3200400"/>
            <a:ext cx="373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CBD9C8"/>
                </a:solidFill>
                <a:latin typeface="Rubik"/>
                <a:ea typeface="Rubik"/>
                <a:cs typeface="Rubik"/>
              </a:defRPr>
            </a:pPr>
            <a:r>
              <a:rPr sz="2025" b="0">
                <a:solidFill>
                  <a:srgbClr val="CBD9C8"/>
                </a:solidFill>
                <a:latin typeface="Rubik"/>
                <a:ea typeface="Rubik"/>
                <a:cs typeface="Rubik"/>
              </a:rPr>
              <a:t>Models fills, fees,</a:t>
            </a:r>
          </a:p>
          <a:p xmlns:a="http://schemas.openxmlformats.org/drawingml/2006/main">
            <a:pPr algn="l">
              <a:defRPr sz="2025" b="0">
                <a:solidFill>
                  <a:srgbClr val="CBD9C8"/>
                </a:solidFill>
                <a:latin typeface="Rubik"/>
                <a:ea typeface="Rubik"/>
                <a:cs typeface="Rubik"/>
              </a:defRPr>
            </a:pPr>
            <a:r>
              <a:rPr sz="2025" b="0">
                <a:solidFill>
                  <a:srgbClr val="CBD9C8"/>
                </a:solidFill>
                <a:latin typeface="Rubik"/>
                <a:ea typeface="Rubik"/>
                <a:cs typeface="Rubik"/>
              </a:rPr>
              <a:t>slippage and funding.</a:t>
            </a:r>
          </a:p>
        </p:txBody>
      </p:sp>
      <p:sp>
        <p:nvSpPr>
          <p:cNvPr id="7" name="">
            <a:extLst xmlns:a="http://schemas.openxmlformats.org/drawingml/2006/main">
              <a:ext uri="{FF2B5EF4-FFF2-40B4-BE49-F238E27FC236}">
                <a16:creationId xmlns:a16="http://schemas.microsoft.com/office/drawing/2014/main" id="{47CBC9D5-8B54-4027-9A4C-06249F1BD8F3}"/>
              </a:ext>
            </a:extLst>
          </p:cNvPr>
          <p:cNvSpPr>
            <a:spLocks xmlns:a="http://schemas.openxmlformats.org/drawingml/2006/main" noGrp="1"/>
          </p:cNvSpPr>
          <p:nvPr/>
        </p:nvSpPr>
        <p:spPr>
          <a:xfrm xmlns:a="http://schemas.openxmlformats.org/drawingml/2006/main">
            <a:off x="7848600" y="4362450"/>
            <a:ext cx="3733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F7C948"/>
                </a:solidFill>
                <a:latin typeface="Rubik"/>
                <a:ea typeface="Rubik"/>
                <a:cs typeface="Rubik"/>
              </a:defRPr>
            </a:pPr>
            <a:r>
              <a:rPr sz="2025" b="0">
                <a:solidFill>
                  <a:srgbClr val="F7C948"/>
                </a:solidFill>
                <a:latin typeface="Rubik"/>
                <a:ea typeface="Rubik"/>
                <a:cs typeface="Rubik"/>
              </a:rPr>
              <a:t>$470 paper book:</a:t>
            </a:r>
          </a:p>
          <a:p xmlns:a="http://schemas.openxmlformats.org/drawingml/2006/main">
            <a:pPr algn="l">
              <a:defRPr sz="2025" b="0">
                <a:solidFill>
                  <a:srgbClr val="F7C948"/>
                </a:solidFill>
                <a:latin typeface="Rubik"/>
                <a:ea typeface="Rubik"/>
                <a:cs typeface="Rubik"/>
              </a:defRPr>
            </a:pPr>
            <a:r>
              <a:rPr sz="2025" b="0">
                <a:solidFill>
                  <a:srgbClr val="F7C948"/>
                </a:solidFill>
                <a:latin typeface="Rubik"/>
                <a:ea typeface="Rubik"/>
                <a:cs typeface="Rubik"/>
              </a:rPr>
              <a:t>+0.41% in this capture</a:t>
            </a:r>
          </a:p>
        </p:txBody>
      </p:sp>
      <p:sp>
        <p:nvSpPr>
          <p:cNvPr id="8" name="">
            <a:extLst xmlns:a="http://schemas.openxmlformats.org/drawingml/2006/main">
              <a:ext uri="{FF2B5EF4-FFF2-40B4-BE49-F238E27FC236}">
                <a16:creationId xmlns:a16="http://schemas.microsoft.com/office/drawing/2014/main" id="{F6606D38-A956-4459-85F0-B569FCA54A44}"/>
              </a:ext>
            </a:extLst>
          </p:cNvPr>
          <p:cNvSpPr>
            <a:spLocks xmlns:a="http://schemas.openxmlformats.org/drawingml/2006/main" noGrp="1"/>
          </p:cNvSpPr>
          <p:nvPr/>
        </p:nvSpPr>
        <p:spPr>
          <a:xfrm xmlns:a="http://schemas.openxmlformats.org/drawingml/2006/main">
            <a:off x="7848600" y="5448300"/>
            <a:ext cx="3733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00" b="0">
                <a:solidFill>
                  <a:srgbClr val="CBD9C8"/>
                </a:solidFill>
                <a:latin typeface="Rubik"/>
                <a:ea typeface="Rubik"/>
                <a:cs typeface="Rubik"/>
              </a:defRPr>
            </a:pPr>
            <a:r>
              <a:rPr sz="1800" b="0">
                <a:solidFill>
                  <a:srgbClr val="CBD9C8"/>
                </a:solidFill>
                <a:latin typeface="Rubik"/>
                <a:ea typeface="Rubik"/>
                <a:cs typeface="Rubik"/>
              </a:rPr>
              <a:t>Funded returns and future</a:t>
            </a:r>
          </a:p>
          <a:p xmlns:a="http://schemas.openxmlformats.org/drawingml/2006/main">
            <a:pPr algn="l">
              <a:defRPr sz="1800" b="0">
                <a:solidFill>
                  <a:srgbClr val="CBD9C8"/>
                </a:solidFill>
                <a:latin typeface="Rubik"/>
                <a:ea typeface="Rubik"/>
                <a:cs typeface="Rubik"/>
              </a:defRPr>
            </a:pPr>
            <a:r>
              <a:rPr sz="1800" b="0">
                <a:solidFill>
                  <a:srgbClr val="CBD9C8"/>
                </a:solidFill>
                <a:latin typeface="Rubik"/>
                <a:ea typeface="Rubik"/>
                <a:cs typeface="Rubik"/>
              </a:rPr>
              <a:t>performance remain unproven.</a:t>
            </a:r>
          </a:p>
        </p:txBody>
      </p:sp>
      <p:sp>
        <p:nvSpPr>
          <p:cNvPr id="9" name="">
            <a:extLst xmlns:a="http://schemas.openxmlformats.org/drawingml/2006/main">
              <a:ext uri="{FF2B5EF4-FFF2-40B4-BE49-F238E27FC236}">
                <a16:creationId xmlns:a16="http://schemas.microsoft.com/office/drawing/2014/main" id="{2A2F0C22-821F-40E3-A70F-53E55EA47F0A}"/>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Earlier paper capture. 7 October, run 15:30 SGT. Historical observation, not a forecast.</a:t>
            </a:r>
          </a:p>
        </p:txBody>
      </p:sp>
    </p:spTree>
    <p:extLst>
      <p:ext uri="{BB962C8B-B14F-4D97-AF65-F5344CB8AC3E}">
        <p14:creationId xmlns:p14="http://schemas.microsoft.com/office/powerpoint/2010/main" val="1037692701"/>
      </p:ext>
    </p:extLst>
  </p:cSld>
</p:sld>
</file>

<file path=ppt/slides/slide10.xml><?xml version="1.0" encoding="utf-8"?>
<p:sld xmlns:p="http://schemas.openxmlformats.org/presentationml/2006/main">
  <p:cSld>
    <p:bg>
      <p:bgPr>
        <a:solidFill xmlns:a="http://schemas.openxmlformats.org/drawingml/2006/main">
          <a:srgbClr val="143A2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5E1126-A77B-4649-B777-24BAD13A0F7D}"/>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BC64C63-3F5D-4D26-AB7B-DB78C7B8409B}"/>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CBD9C8"/>
                </a:solidFill>
                <a:latin typeface="Rubik"/>
                <a:ea typeface="Rubik"/>
                <a:cs typeface="Rubik"/>
              </a:defRPr>
            </a:pPr>
            <a:r>
              <a:rPr sz="1350" b="0">
                <a:solidFill>
                  <a:srgbClr val="CBD9C8"/>
                </a:solidFill>
                <a:latin typeface="Rubik"/>
                <a:ea typeface="Rubik"/>
                <a:cs typeface="Rubik"/>
              </a:rPr>
              <a:t>10</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1d0dd43f6fe4fd7"/>
          <a:stretch xmlns:a="http://schemas.openxmlformats.org/drawingml/2006/main"/>
        </p:blipFill>
        <p:spPr>
          <a:xfrm xmlns:a="http://schemas.openxmlformats.org/drawingml/2006/main">
            <a:off x="8077200" y="838200"/>
            <a:ext cx="3505200" cy="52578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677D28-399E-4279-9F70-3C895B876210}"/>
              </a:ext>
            </a:extLst>
          </p:cNvPr>
          <p:cNvSpPr>
            <a:spLocks xmlns:a="http://schemas.openxmlformats.org/drawingml/2006/main" noGrp="1"/>
          </p:cNvSpPr>
          <p:nvPr/>
        </p:nvSpPr>
        <p:spPr>
          <a:xfrm xmlns:a="http://schemas.openxmlformats.org/drawingml/2006/main">
            <a:off x="609600" y="1524000"/>
            <a:ext cx="723900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050" b="0">
                <a:solidFill>
                  <a:srgbClr val="F4F0E4"/>
                </a:solidFill>
                <a:latin typeface="Athelas"/>
                <a:ea typeface="Athelas"/>
                <a:cs typeface="Athelas"/>
              </a:defRPr>
            </a:pPr>
            <a:r>
              <a:rPr sz="4050" b="0">
                <a:solidFill>
                  <a:srgbClr val="F4F0E4"/>
                </a:solidFill>
                <a:latin typeface="Athelas"/>
                <a:ea typeface="Athelas"/>
                <a:cs typeface="Athelas"/>
              </a:rPr>
              <a:t>Know what you follow.</a:t>
            </a:r>
          </a:p>
          <a:p xmlns:a="http://schemas.openxmlformats.org/drawingml/2006/main">
            <a:pPr algn="l">
              <a:defRPr sz="4050" b="0">
                <a:solidFill>
                  <a:srgbClr val="F4F0E4"/>
                </a:solidFill>
                <a:latin typeface="Athelas"/>
                <a:ea typeface="Athelas"/>
                <a:cs typeface="Athelas"/>
              </a:defRPr>
            </a:pPr>
            <a:r>
              <a:rPr sz="4050" b="0">
                <a:solidFill>
                  <a:srgbClr val="F4F0E4"/>
                </a:solidFill>
                <a:latin typeface="Athelas"/>
                <a:ea typeface="Athelas"/>
                <a:cs typeface="Athelas"/>
              </a:rPr>
              <a:t>Understand why it changes.</a:t>
            </a:r>
          </a:p>
        </p:txBody>
      </p:sp>
      <p:sp>
        <p:nvSpPr>
          <p:cNvPr id="5" name="">
            <a:extLst xmlns:a="http://schemas.openxmlformats.org/drawingml/2006/main">
              <a:ext uri="{FF2B5EF4-FFF2-40B4-BE49-F238E27FC236}">
                <a16:creationId xmlns:a16="http://schemas.microsoft.com/office/drawing/2014/main" id="{D508DB6C-7AA9-462B-8916-B8D76F964D34}"/>
              </a:ext>
            </a:extLst>
          </p:cNvPr>
          <p:cNvSpPr>
            <a:spLocks xmlns:a="http://schemas.openxmlformats.org/drawingml/2006/main" noGrp="1"/>
          </p:cNvSpPr>
          <p:nvPr/>
        </p:nvSpPr>
        <p:spPr>
          <a:xfrm xmlns:a="http://schemas.openxmlformats.org/drawingml/2006/main">
            <a:off x="609600" y="495300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F4F0E4"/>
                </a:solidFill>
                <a:latin typeface="Rubik"/>
                <a:ea typeface="Rubik"/>
                <a:cs typeface="Rubik"/>
              </a:defRPr>
            </a:pPr>
            <a:r>
              <a:rPr sz="1950" b="0">
                <a:solidFill>
                  <a:srgbClr val="F4F0E4"/>
                </a:solidFill>
                <a:latin typeface="Rubik"/>
                <a:ea typeface="Rubik"/>
                <a:cs typeface="Rubik"/>
              </a:rPr>
              <a:t>Explore the paper demo</a:t>
            </a:r>
          </a:p>
        </p:txBody>
      </p:sp>
      <p:sp>
        <p:nvSpPr>
          <p:cNvPr id="6" name="">
            <a:extLst xmlns:a="http://schemas.openxmlformats.org/drawingml/2006/main">
              <a:ext uri="{FF2B5EF4-FFF2-40B4-BE49-F238E27FC236}">
                <a16:creationId xmlns:a16="http://schemas.microsoft.com/office/drawing/2014/main" id="{55269F4A-3C65-431A-B990-A1B4537DAD4E}"/>
              </a:ext>
            </a:extLst>
          </p:cNvPr>
          <p:cNvSpPr>
            <a:spLocks xmlns:a="http://schemas.openxmlformats.org/drawingml/2006/main" noGrp="1"/>
          </p:cNvSpPr>
          <p:nvPr/>
        </p:nvSpPr>
        <p:spPr>
          <a:xfrm xmlns:a="http://schemas.openxmlformats.org/drawingml/2006/main">
            <a:off x="609600" y="5372100"/>
            <a:ext cx="723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550" b="0">
                <a:solidFill>
                  <a:srgbClr val="F7C948"/>
                </a:solidFill>
                <a:latin typeface="Rubik"/>
                <a:ea typeface="Rubik"/>
                <a:cs typeface="Rubik"/>
              </a:defRPr>
            </a:pPr>
            <a:r>
              <a:rPr sz="2550" b="0">
                <a:solidFill>
                  <a:srgbClr val="F7C948"/>
                </a:solidFill>
                <a:latin typeface="Rubik"/>
                <a:ea typeface="Rubik"/>
                <a:cs typeface="Rubik"/>
              </a:rPr>
              <a:t>perpparrot.vercel.app</a:t>
            </a:r>
          </a:p>
        </p:txBody>
      </p:sp>
      <p:sp>
        <p:nvSpPr>
          <p:cNvPr id="7" name="">
            <a:extLst xmlns:a="http://schemas.openxmlformats.org/drawingml/2006/main">
              <a:ext uri="{FF2B5EF4-FFF2-40B4-BE49-F238E27FC236}">
                <a16:creationId xmlns:a16="http://schemas.microsoft.com/office/drawing/2014/main" id="{B41E24A7-4CC5-4458-8C9B-B54D4D911A82}"/>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CBD9C8"/>
                </a:solidFill>
                <a:latin typeface="Rubik"/>
                <a:ea typeface="Rubik"/>
                <a:cs typeface="Rubik"/>
              </a:defRPr>
            </a:pPr>
            <a:r>
              <a:rPr sz="1350" b="0">
                <a:solidFill>
                  <a:srgbClr val="CBD9C8"/>
                </a:solidFill>
                <a:latin typeface="Rubik"/>
                <a:ea typeface="Rubik"/>
                <a:cs typeface="Rubik"/>
              </a:rPr>
              <a:t>Read-only paper demo.</a:t>
            </a:r>
          </a:p>
        </p:txBody>
      </p:sp>
    </p:spTree>
    <p:extLst>
      <p:ext uri="{BB962C8B-B14F-4D97-AF65-F5344CB8AC3E}">
        <p14:creationId xmlns:p14="http://schemas.microsoft.com/office/powerpoint/2010/main" val="1381884276"/>
      </p:ext>
    </p:extLst>
  </p:cSld>
</p:sld>
</file>

<file path=ppt/slides/slide11.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cxnSp>
        <p:nvCxnSpPr>
          <p:cNvPr id="19" name=""/>
          <p:cNvCxnSpPr>
            <a:stCxn xmlns:a="http://schemas.openxmlformats.org/drawingml/2006/main" id="11" idx="3"/>
            <a:endCxn xmlns:a="http://schemas.openxmlformats.org/drawingml/2006/main" id="12" idx="1"/>
          </p:cNvCxnSpPr>
          <p:nvPr/>
        </p:nvCxnSpPr>
        <p:spPr>
          <a:xfrm xmlns:a="http://schemas.openxmlformats.org/drawingml/2006/main">
            <a:off x="4953953" y="4039077"/>
            <a:ext cx="2894647" cy="0"/>
          </a:xfrm>
          <a:prstGeom xmlns:a="http://schemas.openxmlformats.org/drawingml/2006/main" prst="straightConnector1">
            <a:avLst/>
          </a:prstGeom>
          <a:ln xmlns:a="http://schemas.openxmlformats.org/drawingml/2006/main" w="28575">
            <a:solidFill>
              <a:srgbClr val="143A2B"/>
            </a:solidFill>
            <a:prstDash val="solid"/>
            <a:tailEnd type="arrow" w="sm" len="sm"/>
          </a:ln>
        </p:spPr>
      </p:cxnSp>
      <p:cxnSp>
        <p:nvCxnSpPr>
          <p:cNvPr id="20" name=""/>
          <p:cNvCxnSpPr>
            <a:stCxn xmlns:a="http://schemas.openxmlformats.org/drawingml/2006/main" id="6" idx="3"/>
            <a:endCxn xmlns:a="http://schemas.openxmlformats.org/drawingml/2006/main" id="7" idx="1"/>
          </p:cNvCxnSpPr>
          <p:nvPr/>
        </p:nvCxnSpPr>
        <p:spPr>
          <a:xfrm xmlns:a="http://schemas.openxmlformats.org/drawingml/2006/main">
            <a:off x="1220153" y="4039077"/>
            <a:ext cx="2894647" cy="0"/>
          </a:xfrm>
          <a:prstGeom xmlns:a="http://schemas.openxmlformats.org/drawingml/2006/main" prst="straightConnector1">
            <a:avLst/>
          </a:prstGeom>
          <a:ln xmlns:a="http://schemas.openxmlformats.org/drawingml/2006/main" w="28575">
            <a:solidFill>
              <a:srgbClr val="143A2B"/>
            </a:solidFill>
            <a:prstDash val="solid"/>
            <a:tailEnd type="arrow" w="sm" len="sm"/>
          </a:ln>
        </p:spPr>
      </p:cxnSp>
      <p:sp>
        <p:nvSpPr>
          <p:cNvPr id="21" name="">
            <a:extLst xmlns:a="http://schemas.openxmlformats.org/drawingml/2006/main">
              <a:ext uri="{FF2B5EF4-FFF2-40B4-BE49-F238E27FC236}">
                <a16:creationId xmlns:a16="http://schemas.microsoft.com/office/drawing/2014/main" id="{E505899C-F7CB-4E6B-99AD-5ED4390BFF45}"/>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Appendix / Current source</a:t>
            </a:r>
          </a:p>
        </p:txBody>
      </p:sp>
      <p:sp>
        <p:nvSpPr>
          <p:cNvPr id="2" name="">
            <a:extLst xmlns:a="http://schemas.openxmlformats.org/drawingml/2006/main">
              <a:ext uri="{FF2B5EF4-FFF2-40B4-BE49-F238E27FC236}">
                <a16:creationId xmlns:a16="http://schemas.microsoft.com/office/drawing/2014/main" id="{B4066209-CFF4-46CD-BFA1-EAD069FDD8CD}"/>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11</a:t>
            </a:r>
          </a:p>
        </p:txBody>
      </p:sp>
      <p:sp>
        <p:nvSpPr>
          <p:cNvPr id="3" name="">
            <a:extLst xmlns:a="http://schemas.openxmlformats.org/drawingml/2006/main">
              <a:ext uri="{FF2B5EF4-FFF2-40B4-BE49-F238E27FC236}">
                <a16:creationId xmlns:a16="http://schemas.microsoft.com/office/drawing/2014/main" id="{B6F712DD-164D-4DBD-BC4F-83E9C135B284}"/>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How the implementation evolved</a:t>
            </a:r>
          </a:p>
        </p:txBody>
      </p:sp>
      <p:sp>
        <p:nvSpPr>
          <p:cNvPr id="4" name="">
            <a:extLst xmlns:a="http://schemas.openxmlformats.org/drawingml/2006/main">
              <a:ext uri="{FF2B5EF4-FFF2-40B4-BE49-F238E27FC236}">
                <a16:creationId xmlns:a16="http://schemas.microsoft.com/office/drawing/2014/main" id="{8A770CB9-2B88-4FBA-B636-CFA12D44C07B}"/>
              </a:ext>
            </a:extLst>
          </p:cNvPr>
          <p:cNvSpPr>
            <a:spLocks xmlns:a="http://schemas.openxmlformats.org/drawingml/2006/main" noGrp="1"/>
          </p:cNvSpPr>
          <p:nvPr/>
        </p:nvSpPr>
        <p:spPr>
          <a:xfrm xmlns:a="http://schemas.openxmlformats.org/drawingml/2006/main">
            <a:off x="609600" y="22098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6 October</a:t>
            </a:r>
          </a:p>
        </p:txBody>
      </p:sp>
      <p:sp>
        <p:nvSpPr>
          <p:cNvPr id="5" name="">
            <a:extLst xmlns:a="http://schemas.openxmlformats.org/drawingml/2006/main">
              <a:ext uri="{FF2B5EF4-FFF2-40B4-BE49-F238E27FC236}">
                <a16:creationId xmlns:a16="http://schemas.microsoft.com/office/drawing/2014/main" id="{4EF4046E-2FFF-4B1B-B1AB-A55C5165E3EB}"/>
              </a:ext>
            </a:extLst>
          </p:cNvPr>
          <p:cNvSpPr>
            <a:spLocks xmlns:a="http://schemas.openxmlformats.org/drawingml/2006/main" noGrp="1"/>
          </p:cNvSpPr>
          <p:nvPr/>
        </p:nvSpPr>
        <p:spPr>
          <a:xfrm xmlns:a="http://schemas.openxmlformats.org/drawingml/2006/main">
            <a:off x="609600" y="2857500"/>
            <a:ext cx="350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Combined target math</a:t>
            </a:r>
          </a:p>
        </p:txBody>
      </p:sp>
      <p:sp>
        <p:nvSpPr>
          <p:cNvPr id="6" name="">
            <a:extLst xmlns:a="http://schemas.openxmlformats.org/drawingml/2006/main">
              <a:ext uri="{FF2B5EF4-FFF2-40B4-BE49-F238E27FC236}">
                <a16:creationId xmlns:a16="http://schemas.microsoft.com/office/drawing/2014/main" id="{A49850D5-CB80-476C-9703-DB350CB416AB}"/>
              </a:ext>
            </a:extLst>
          </p:cNvPr>
          <p:cNvSpPr>
            <a:spLocks xmlns:a="http://schemas.openxmlformats.org/drawingml/2006/main" noGrp="1"/>
          </p:cNvSpPr>
          <p:nvPr/>
        </p:nvSpPr>
        <p:spPr>
          <a:xfrm xmlns:a="http://schemas.openxmlformats.org/drawingml/2006/main">
            <a:off x="1219200" y="40386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F063FF7-3A22-4D45-B057-436A6D2F7BF4}"/>
              </a:ext>
            </a:extLst>
          </p:cNvPr>
          <p:cNvSpPr>
            <a:spLocks xmlns:a="http://schemas.openxmlformats.org/drawingml/2006/main" noGrp="1"/>
          </p:cNvSpPr>
          <p:nvPr/>
        </p:nvSpPr>
        <p:spPr>
          <a:xfrm xmlns:a="http://schemas.openxmlformats.org/drawingml/2006/main">
            <a:off x="4114800" y="40386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FF63BE-2B6E-46C8-9A2B-A41046830D14}"/>
              </a:ext>
            </a:extLst>
          </p:cNvPr>
          <p:cNvSpPr>
            <a:spLocks xmlns:a="http://schemas.openxmlformats.org/drawingml/2006/main" noGrp="1"/>
          </p:cNvSpPr>
          <p:nvPr/>
        </p:nvSpPr>
        <p:spPr>
          <a:xfrm xmlns:a="http://schemas.openxmlformats.org/drawingml/2006/main">
            <a:off x="4343400" y="22098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7 October</a:t>
            </a:r>
          </a:p>
        </p:txBody>
      </p:sp>
      <p:sp>
        <p:nvSpPr>
          <p:cNvPr id="10" name="">
            <a:extLst xmlns:a="http://schemas.openxmlformats.org/drawingml/2006/main">
              <a:ext uri="{FF2B5EF4-FFF2-40B4-BE49-F238E27FC236}">
                <a16:creationId xmlns:a16="http://schemas.microsoft.com/office/drawing/2014/main" id="{496DC3EB-B34A-46FF-9593-E07B55A61B3C}"/>
              </a:ext>
            </a:extLst>
          </p:cNvPr>
          <p:cNvSpPr>
            <a:spLocks xmlns:a="http://schemas.openxmlformats.org/drawingml/2006/main" noGrp="1"/>
          </p:cNvSpPr>
          <p:nvPr/>
        </p:nvSpPr>
        <p:spPr>
          <a:xfrm xmlns:a="http://schemas.openxmlformats.org/drawingml/2006/main">
            <a:off x="4343400" y="2857500"/>
            <a:ext cx="350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Review and recovery</a:t>
            </a:r>
          </a:p>
        </p:txBody>
      </p:sp>
      <p:sp>
        <p:nvSpPr>
          <p:cNvPr id="11" name="">
            <a:extLst xmlns:a="http://schemas.openxmlformats.org/drawingml/2006/main">
              <a:ext uri="{FF2B5EF4-FFF2-40B4-BE49-F238E27FC236}">
                <a16:creationId xmlns:a16="http://schemas.microsoft.com/office/drawing/2014/main" id="{A738CAD8-183E-4CBD-B97E-6750C315C11F}"/>
              </a:ext>
            </a:extLst>
          </p:cNvPr>
          <p:cNvSpPr>
            <a:spLocks xmlns:a="http://schemas.openxmlformats.org/drawingml/2006/main" noGrp="1"/>
          </p:cNvSpPr>
          <p:nvPr/>
        </p:nvSpPr>
        <p:spPr>
          <a:xfrm xmlns:a="http://schemas.openxmlformats.org/drawingml/2006/main">
            <a:off x="4953000" y="40386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355B6EE-5341-4070-AAD5-90B95E51447C}"/>
              </a:ext>
            </a:extLst>
          </p:cNvPr>
          <p:cNvSpPr>
            <a:spLocks xmlns:a="http://schemas.openxmlformats.org/drawingml/2006/main" noGrp="1"/>
          </p:cNvSpPr>
          <p:nvPr/>
        </p:nvSpPr>
        <p:spPr>
          <a:xfrm xmlns:a="http://schemas.openxmlformats.org/drawingml/2006/main">
            <a:off x="7848600" y="4038600"/>
            <a:ext cx="953" cy="953"/>
          </a:xfrm>
          <a:prstGeom xmlns:a="http://schemas.openxmlformats.org/drawingml/2006/main" prst="rect">
            <a:avLst/>
          </a:prstGeom>
          <a:noFill xmlns:a="http://schemas.openxmlformats.org/drawingml/2006/main"/>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F596DE9-682C-447F-852E-340F477163E0}"/>
              </a:ext>
            </a:extLst>
          </p:cNvPr>
          <p:cNvSpPr>
            <a:spLocks xmlns:a="http://schemas.openxmlformats.org/drawingml/2006/main" noGrp="1"/>
          </p:cNvSpPr>
          <p:nvPr/>
        </p:nvSpPr>
        <p:spPr>
          <a:xfrm xmlns:a="http://schemas.openxmlformats.org/drawingml/2006/main">
            <a:off x="8077200" y="2209800"/>
            <a:ext cx="350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1">
                <a:solidFill>
                  <a:srgbClr val="143A2B"/>
                </a:solidFill>
                <a:latin typeface="Rubik"/>
                <a:ea typeface="Rubik"/>
                <a:cs typeface="Rubik"/>
              </a:defRPr>
            </a:pPr>
            <a:r>
              <a:rPr sz="2100" b="1">
                <a:solidFill>
                  <a:srgbClr val="143A2B"/>
                </a:solidFill>
                <a:latin typeface="Rubik"/>
                <a:ea typeface="Rubik"/>
                <a:cs typeface="Rubik"/>
              </a:rPr>
              <a:t>Later 7 October</a:t>
            </a:r>
          </a:p>
        </p:txBody>
      </p:sp>
      <p:sp>
        <p:nvSpPr>
          <p:cNvPr id="15" name="">
            <a:extLst xmlns:a="http://schemas.openxmlformats.org/drawingml/2006/main">
              <a:ext uri="{FF2B5EF4-FFF2-40B4-BE49-F238E27FC236}">
                <a16:creationId xmlns:a16="http://schemas.microsoft.com/office/drawing/2014/main" id="{05FBE137-4C91-4386-B2D8-C74F65A3A5F0}"/>
              </a:ext>
            </a:extLst>
          </p:cNvPr>
          <p:cNvSpPr>
            <a:spLocks xmlns:a="http://schemas.openxmlformats.org/drawingml/2006/main" noGrp="1"/>
          </p:cNvSpPr>
          <p:nvPr/>
        </p:nvSpPr>
        <p:spPr>
          <a:xfrm xmlns:a="http://schemas.openxmlformats.org/drawingml/2006/main">
            <a:off x="8077200" y="2857500"/>
            <a:ext cx="3505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Roster and fixed policies</a:t>
            </a:r>
          </a:p>
        </p:txBody>
      </p:sp>
      <p:sp>
        <p:nvSpPr>
          <p:cNvPr id="16" name="">
            <a:extLst xmlns:a="http://schemas.openxmlformats.org/drawingml/2006/main">
              <a:ext uri="{FF2B5EF4-FFF2-40B4-BE49-F238E27FC236}">
                <a16:creationId xmlns:a16="http://schemas.microsoft.com/office/drawing/2014/main" id="{6B02A29F-DF43-4F3F-B117-01846EBFC073}"/>
              </a:ext>
            </a:extLst>
          </p:cNvPr>
          <p:cNvSpPr>
            <a:spLocks xmlns:a="http://schemas.openxmlformats.org/drawingml/2006/main" noGrp="1"/>
          </p:cNvSpPr>
          <p:nvPr/>
        </p:nvSpPr>
        <p:spPr>
          <a:xfrm xmlns:a="http://schemas.openxmlformats.org/drawingml/2006/main">
            <a:off x="609600" y="45720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700" b="1">
                <a:solidFill>
                  <a:srgbClr val="143A2B"/>
                </a:solidFill>
                <a:latin typeface="Rubik"/>
                <a:ea typeface="Rubik"/>
                <a:cs typeface="Rubik"/>
              </a:defRPr>
            </a:pPr>
            <a:r>
              <a:rPr sz="2700" b="1">
                <a:solidFill>
                  <a:srgbClr val="143A2B"/>
                </a:solidFill>
                <a:latin typeface="Rubik"/>
                <a:ea typeface="Rubik"/>
                <a:cs typeface="Rubik"/>
              </a:rPr>
              <a:t>Latest: normalization and at most 15 positions</a:t>
            </a:r>
          </a:p>
        </p:txBody>
      </p:sp>
      <p:sp>
        <p:nvSpPr>
          <p:cNvPr id="17" name="">
            <a:extLst xmlns:a="http://schemas.openxmlformats.org/drawingml/2006/main">
              <a:ext uri="{FF2B5EF4-FFF2-40B4-BE49-F238E27FC236}">
                <a16:creationId xmlns:a16="http://schemas.microsoft.com/office/drawing/2014/main" id="{12B034B2-85BA-4411-9F12-5B1E5E670693}"/>
              </a:ext>
            </a:extLst>
          </p:cNvPr>
          <p:cNvSpPr>
            <a:spLocks xmlns:a="http://schemas.openxmlformats.org/drawingml/2006/main" noGrp="1"/>
          </p:cNvSpPr>
          <p:nvPr/>
        </p:nvSpPr>
        <p:spPr>
          <a:xfrm xmlns:a="http://schemas.openxmlformats.org/drawingml/2006/main">
            <a:off x="609600" y="5257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17251C"/>
                </a:solidFill>
                <a:latin typeface="Rubik"/>
                <a:ea typeface="Rubik"/>
                <a:cs typeface="Rubik"/>
              </a:defRPr>
            </a:pPr>
            <a:r>
              <a:rPr sz="2100" b="0">
                <a:solidFill>
                  <a:srgbClr val="17251C"/>
                </a:solidFill>
                <a:latin typeface="Rubik"/>
                <a:ea typeface="Rubik"/>
                <a:cs typeface="Rubik"/>
              </a:rPr>
              <a:t>Scale: 2 ÷ max(30-day average leverage, 0.05). Unknown average: 1.</a:t>
            </a:r>
          </a:p>
        </p:txBody>
      </p:sp>
      <p:sp>
        <p:nvSpPr>
          <p:cNvPr id="18" name="">
            <a:extLst xmlns:a="http://schemas.openxmlformats.org/drawingml/2006/main">
              <a:ext uri="{FF2B5EF4-FFF2-40B4-BE49-F238E27FC236}">
                <a16:creationId xmlns:a16="http://schemas.microsoft.com/office/drawing/2014/main" id="{4E1FB342-4097-4A8B-B241-C6297A563AD8}"/>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Code: 7c05d74. Counted cap 5×. Minority half. Largest 15 retained and rescaled.</a:t>
            </a:r>
          </a:p>
        </p:txBody>
      </p:sp>
    </p:spTree>
    <p:extLst>
      <p:ext uri="{BB962C8B-B14F-4D97-AF65-F5344CB8AC3E}">
        <p14:creationId xmlns:p14="http://schemas.microsoft.com/office/powerpoint/2010/main" val="528402401"/>
      </p:ext>
    </p:extLst>
  </p:cSld>
</p:sld>
</file>

<file path=ppt/slides/slide12.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CBCF51C-91AC-4D98-B528-7691DCE9E2CC}"/>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Appendix / Historical fixture</a:t>
            </a:r>
          </a:p>
        </p:txBody>
      </p:sp>
      <p:sp>
        <p:nvSpPr>
          <p:cNvPr id="2" name="">
            <a:extLst xmlns:a="http://schemas.openxmlformats.org/drawingml/2006/main">
              <a:ext uri="{FF2B5EF4-FFF2-40B4-BE49-F238E27FC236}">
                <a16:creationId xmlns:a16="http://schemas.microsoft.com/office/drawing/2014/main" id="{E69F4139-7386-4DC0-A855-03F4BEC70879}"/>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12</a:t>
            </a:r>
          </a:p>
        </p:txBody>
      </p:sp>
      <p:sp>
        <p:nvSpPr>
          <p:cNvPr id="3" name="">
            <a:extLst xmlns:a="http://schemas.openxmlformats.org/drawingml/2006/main">
              <a:ext uri="{FF2B5EF4-FFF2-40B4-BE49-F238E27FC236}">
                <a16:creationId xmlns:a16="http://schemas.microsoft.com/office/drawing/2014/main" id="{FA113543-740A-4C32-BD28-D0596F4FE6B4}"/>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One old snapshot. 33 exact matches.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bbbdeff579f4eb4"/>
          <a:srcRect xmlns:a="http://schemas.openxmlformats.org/drawingml/2006/main" l="3577" t="0" r="3740" b="0"/>
          <a:stretch xmlns:a="http://schemas.openxmlformats.org/drawingml/2006/main"/>
        </p:blipFill>
        <p:spPr>
          <a:xfrm xmlns:a="http://schemas.openxmlformats.org/drawingml/2006/main">
            <a:off x="609600" y="2133600"/>
            <a:ext cx="5264727" cy="3962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3D968CD-DC42-4171-B834-8A75BBEE7B74}"/>
              </a:ext>
            </a:extLst>
          </p:cNvPr>
          <p:cNvSpPr>
            <a:spLocks xmlns:a="http://schemas.openxmlformats.org/drawingml/2006/main" noGrp="1"/>
          </p:cNvSpPr>
          <p:nvPr/>
        </p:nvSpPr>
        <p:spPr>
          <a:xfrm xmlns:a="http://schemas.openxmlformats.org/drawingml/2006/main">
            <a:off x="8077200" y="2286000"/>
            <a:ext cx="3505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4800" b="1">
                <a:solidFill>
                  <a:srgbClr val="143A2B"/>
                </a:solidFill>
                <a:latin typeface="Rubik"/>
                <a:ea typeface="Rubik"/>
                <a:cs typeface="Rubik"/>
              </a:defRPr>
            </a:pPr>
            <a:r>
              <a:rPr sz="4800" b="1">
                <a:solidFill>
                  <a:srgbClr val="143A2B"/>
                </a:solidFill>
                <a:latin typeface="Rubik"/>
                <a:ea typeface="Rubik"/>
                <a:cs typeface="Rubik"/>
              </a:rPr>
              <a:t>33 / 33</a:t>
            </a:r>
          </a:p>
        </p:txBody>
      </p:sp>
      <p:sp>
        <p:nvSpPr>
          <p:cNvPr id="6" name="">
            <a:extLst xmlns:a="http://schemas.openxmlformats.org/drawingml/2006/main">
              <a:ext uri="{FF2B5EF4-FFF2-40B4-BE49-F238E27FC236}">
                <a16:creationId xmlns:a16="http://schemas.microsoft.com/office/drawing/2014/main" id="{5E9F151E-F535-4551-B080-E2EDC42FFF0D}"/>
              </a:ext>
            </a:extLst>
          </p:cNvPr>
          <p:cNvSpPr>
            <a:spLocks xmlns:a="http://schemas.openxmlformats.org/drawingml/2006/main" noGrp="1"/>
          </p:cNvSpPr>
          <p:nvPr/>
        </p:nvSpPr>
        <p:spPr>
          <a:xfrm xmlns:a="http://schemas.openxmlformats.org/drawingml/2006/main">
            <a:off x="8077200" y="3467100"/>
            <a:ext cx="3505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Historical calculation</a:t>
            </a:r>
          </a:p>
          <a:p xmlns:a="http://schemas.openxmlformats.org/drawingml/2006/main">
            <a:pPr algn="l">
              <a:defRPr sz="2250" b="1">
                <a:solidFill>
                  <a:srgbClr val="17251C"/>
                </a:solidFill>
                <a:latin typeface="Rubik"/>
                <a:ea typeface="Rubik"/>
                <a:cs typeface="Rubik"/>
              </a:defRPr>
            </a:pPr>
            <a:r>
              <a:rPr sz="2250" b="1">
                <a:solidFill>
                  <a:srgbClr val="17251C"/>
                </a:solidFill>
                <a:latin typeface="Rubik"/>
                <a:ea typeface="Rubik"/>
                <a:cs typeface="Rubik"/>
              </a:rPr>
              <a:t>comparison</a:t>
            </a:r>
          </a:p>
        </p:txBody>
      </p:sp>
      <p:sp>
        <p:nvSpPr>
          <p:cNvPr id="7" name="">
            <a:extLst xmlns:a="http://schemas.openxmlformats.org/drawingml/2006/main">
              <a:ext uri="{FF2B5EF4-FFF2-40B4-BE49-F238E27FC236}">
                <a16:creationId xmlns:a16="http://schemas.microsoft.com/office/drawing/2014/main" id="{3A9B0FD4-71BF-4969-9575-967D4533EDF8}"/>
              </a:ext>
            </a:extLst>
          </p:cNvPr>
          <p:cNvSpPr>
            <a:spLocks xmlns:a="http://schemas.openxmlformats.org/drawingml/2006/main" noGrp="1"/>
          </p:cNvSpPr>
          <p:nvPr/>
        </p:nvSpPr>
        <p:spPr>
          <a:xfrm xmlns:a="http://schemas.openxmlformats.org/drawingml/2006/main">
            <a:off x="8077200" y="4800600"/>
            <a:ext cx="35052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657567"/>
                </a:solidFill>
                <a:latin typeface="Rubik"/>
                <a:ea typeface="Rubik"/>
                <a:cs typeface="Rubik"/>
              </a:defRPr>
            </a:pPr>
            <a:r>
              <a:rPr sz="1950" b="0">
                <a:solidFill>
                  <a:srgbClr val="657567"/>
                </a:solidFill>
                <a:latin typeface="Rubik"/>
                <a:ea typeface="Rubik"/>
                <a:cs typeface="Rubik"/>
              </a:rPr>
              <a:t>One recorded snapshot.</a:t>
            </a:r>
          </a:p>
          <a:p xmlns:a="http://schemas.openxmlformats.org/drawingml/2006/main">
            <a:pPr algn="l">
              <a:defRPr sz="1950" b="0">
                <a:solidFill>
                  <a:srgbClr val="657567"/>
                </a:solidFill>
                <a:latin typeface="Rubik"/>
                <a:ea typeface="Rubik"/>
                <a:cs typeface="Rubik"/>
              </a:defRPr>
            </a:pPr>
            <a:r>
              <a:rPr sz="1950" b="0">
                <a:solidFill>
                  <a:srgbClr val="657567"/>
                </a:solidFill>
                <a:latin typeface="Rubik"/>
                <a:ea typeface="Rubik"/>
                <a:cs typeface="Rubik"/>
              </a:rPr>
              <a:t>Fresh exact-target</a:t>
            </a:r>
          </a:p>
          <a:p xmlns:a="http://schemas.openxmlformats.org/drawingml/2006/main">
            <a:pPr algn="l">
              <a:defRPr sz="1950" b="0">
                <a:solidFill>
                  <a:srgbClr val="657567"/>
                </a:solidFill>
                <a:latin typeface="Rubik"/>
                <a:ea typeface="Rubik"/>
                <a:cs typeface="Rubik"/>
              </a:defRPr>
            </a:pPr>
            <a:r>
              <a:rPr sz="1950" b="0">
                <a:solidFill>
                  <a:srgbClr val="657567"/>
                </a:solidFill>
                <a:latin typeface="Rubik"/>
                <a:ea typeface="Rubik"/>
                <a:cs typeface="Rubik"/>
              </a:rPr>
              <a:t>comparison pending.</a:t>
            </a:r>
          </a:p>
        </p:txBody>
      </p:sp>
      <p:sp>
        <p:nvSpPr>
          <p:cNvPr id="8" name="">
            <a:extLst xmlns:a="http://schemas.openxmlformats.org/drawingml/2006/main">
              <a:ext uri="{FF2B5EF4-FFF2-40B4-BE49-F238E27FC236}">
                <a16:creationId xmlns:a16="http://schemas.microsoft.com/office/drawing/2014/main" id="{49CA8C2D-94BB-4034-ACB9-25A887B82AE2}"/>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Historical fixture. This does not verify the latest pipeline or funded execution.</a:t>
            </a:r>
          </a:p>
        </p:txBody>
      </p:sp>
    </p:spTree>
    <p:extLst>
      <p:ext uri="{BB962C8B-B14F-4D97-AF65-F5344CB8AC3E}">
        <p14:creationId xmlns:p14="http://schemas.microsoft.com/office/powerpoint/2010/main" val="1589433638"/>
      </p:ext>
    </p:extLst>
  </p:cSld>
</p:sld>
</file>

<file path=ppt/slides/slide13.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8FF13E-7F0E-4B25-922C-B436995C683E}"/>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Appendix / Current code: 7c05d74</a:t>
            </a:r>
          </a:p>
        </p:txBody>
      </p:sp>
      <p:sp>
        <p:nvSpPr>
          <p:cNvPr id="2" name="">
            <a:extLst xmlns:a="http://schemas.openxmlformats.org/drawingml/2006/main">
              <a:ext uri="{FF2B5EF4-FFF2-40B4-BE49-F238E27FC236}">
                <a16:creationId xmlns:a16="http://schemas.microsoft.com/office/drawing/2014/main" id="{296EB49D-35C1-4BDD-BD65-BF9307DB1C48}"/>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13</a:t>
            </a:r>
          </a:p>
        </p:txBody>
      </p:sp>
      <p:sp>
        <p:nvSpPr>
          <p:cNvPr id="3" name="">
            <a:extLst xmlns:a="http://schemas.openxmlformats.org/drawingml/2006/main">
              <a:ext uri="{FF2B5EF4-FFF2-40B4-BE49-F238E27FC236}">
                <a16:creationId xmlns:a16="http://schemas.microsoft.com/office/drawing/2014/main" id="{5E73B92D-0A6F-4811-8DD3-57CF671320D0}"/>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Controls and review boundaries</a:t>
            </a:r>
          </a:p>
        </p:txBody>
      </p:sp>
      <p:graphicFrame>
        <p:nvGraphicFramePr>
          <p:cNvPr id="9" name=""/>
          <p:cNvGraphicFramePr/>
          <p:nvPr/>
        </p:nvGraphicFramePr>
        <p:xfrm>
          <a:off xmlns:a="http://schemas.openxmlformats.org/drawingml/2006/main" x="609600" y="2133600"/>
          <a:ext xmlns:a="http://schemas.openxmlformats.org/drawingml/2006/main" cx="10972800" cy="3962400"/>
        </p:xfrm>
        <a:graphic xmlns:a="http://schemas.openxmlformats.org/drawingml/2006/main">
          <a:graphicData uri="http://schemas.openxmlformats.org/drawingml/2006/table">
            <a:tbl>
              <a:tblPr firstRow="0" bandRow="0"/>
              <a:tblGrid>
                <a:gridCol w="2800350"/>
                <a:gridCol w="8172450"/>
              </a:tblGrid>
              <a:tr h="566057">
                <a:tc>
                  <a:txBody>
                    <a:bodyPr lIns="152400" tIns="152400" rIns="152400" bIns="76200"/>
                    <a:lstStyle/>
                    <a:p>
                      <a:r>
                        <a:rPr sz="1650" b="1">
                          <a:solidFill>
                            <a:srgbClr val="F4F0E4"/>
                          </a:solidFill>
                          <a:latin typeface="Rubik"/>
                          <a:ea typeface="Rubik"/>
                          <a:cs typeface="Rubik"/>
                        </a:rPr>
                        <a:t>Rule</a:t>
                      </a:r>
                    </a:p>
                  </a:txBody>
                  <a:tcPr marL="91440" marR="91440" marT="45720" marB="45720">
                    <a:solidFill>
                      <a:srgbClr val="143A2B"/>
                    </a:solidFill>
                  </a:tcPr>
                </a:tc>
                <a:tc>
                  <a:txBody>
                    <a:bodyPr lIns="152400" tIns="152400" rIns="152400" bIns="76200"/>
                    <a:lstStyle/>
                    <a:p>
                      <a:r>
                        <a:rPr sz="1650" b="1">
                          <a:solidFill>
                            <a:srgbClr val="F4F0E4"/>
                          </a:solidFill>
                          <a:latin typeface="Rubik"/>
                          <a:ea typeface="Rubik"/>
                          <a:cs typeface="Rubik"/>
                        </a:rPr>
                        <a:t>Current implementation</a:t>
                      </a:r>
                    </a:p>
                  </a:txBody>
                  <a:tcPr marL="91440" marR="91440" marT="45720" marB="45720">
                    <a:solidFill>
                      <a:srgbClr val="143A2B"/>
                    </a:solidFill>
                  </a:tcPr>
                </a:tc>
              </a:tr>
              <a:tr h="566057">
                <a:tc>
                  <a:txBody>
                    <a:bodyPr lIns="152400" tIns="152400" rIns="152400" bIns="76200"/>
                    <a:lstStyle/>
                    <a:p>
                      <a:r>
                        <a:rPr sz="1800" b="0">
                          <a:solidFill>
                            <a:srgbClr val="17251C"/>
                          </a:solidFill>
                          <a:latin typeface="Rubik"/>
                          <a:ea typeface="Rubik"/>
                          <a:cs typeface="Rubik"/>
                        </a:rPr>
                        <a:t>Exposure / positions</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Counted cap 5×; minority side at half. At most 15 positions.</a:t>
                      </a:r>
                    </a:p>
                  </a:txBody>
                  <a:tcPr marL="91440" marR="91440" marT="45720" marB="45720">
                    <a:solidFill>
                      <a:srgbClr val="F4F0E4"/>
                    </a:solidFill>
                  </a:tcPr>
                </a:tc>
              </a:tr>
              <a:tr h="566057">
                <a:tc>
                  <a:txBody>
                    <a:bodyPr lIns="152400" tIns="152400" rIns="152400" bIns="76200"/>
                    <a:lstStyle/>
                    <a:p>
                      <a:r>
                        <a:rPr sz="1800" b="0">
                          <a:solidFill>
                            <a:srgbClr val="17251C"/>
                          </a:solidFill>
                          <a:latin typeface="Rubik"/>
                          <a:ea typeface="Rubik"/>
                          <a:cs typeface="Rubik"/>
                        </a:rPr>
                        <a:t>Ordinary trade</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Aggressive: $10 and 10% target and 0.5% equity</a:t>
                      </a:r>
                    </a:p>
                  </a:txBody>
                  <a:tcPr marL="91440" marR="91440" marT="45720" marB="45720">
                    <a:solidFill>
                      <a:srgbClr val="F4F0E4"/>
                    </a:solidFill>
                  </a:tcPr>
                </a:tc>
              </a:tr>
              <a:tr h="566057">
                <a:tc>
                  <a:txBody>
                    <a:bodyPr lIns="152400" tIns="152400" rIns="152400" bIns="76200"/>
                    <a:lstStyle/>
                    <a:p>
                      <a:r>
                        <a:rPr sz="1800" b="0">
                          <a:solidFill>
                            <a:srgbClr val="17251C"/>
                          </a:solidFill>
                          <a:latin typeface="Rubik"/>
                          <a:ea typeface="Rubik"/>
                          <a:cs typeface="Rubik"/>
                        </a:rPr>
                        <a:t>Portfolio variants</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Targets and equity floor ×1 / ×0.5 / ×0.25</a:t>
                      </a:r>
                    </a:p>
                  </a:txBody>
                  <a:tcPr marL="91440" marR="91440" marT="45720" marB="45720">
                    <a:solidFill>
                      <a:srgbClr val="F4F0E4"/>
                    </a:solidFill>
                  </a:tcPr>
                </a:tc>
              </a:tr>
              <a:tr h="566057">
                <a:tc>
                  <a:txBody>
                    <a:bodyPr lIns="152400" tIns="152400" rIns="152400" bIns="76200"/>
                    <a:lstStyle/>
                    <a:p>
                      <a:r>
                        <a:rPr sz="1800" b="0">
                          <a:solidFill>
                            <a:srgbClr val="17251C"/>
                          </a:solidFill>
                          <a:latin typeface="Rubik"/>
                          <a:ea typeface="Rubik"/>
                          <a:cs typeface="Rubik"/>
                        </a:rPr>
                        <a:t>Exit and wind-down</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Full close: 3 zero runs. Wind-down: reductions only.</a:t>
                      </a:r>
                    </a:p>
                  </a:txBody>
                  <a:tcPr marL="91440" marR="91440" marT="45720" marB="45720">
                    <a:solidFill>
                      <a:srgbClr val="F4F0E4"/>
                    </a:solidFill>
                  </a:tcPr>
                </a:tc>
              </a:tr>
              <a:tr h="566057">
                <a:tc>
                  <a:txBody>
                    <a:bodyPr lIns="152400" tIns="152400" rIns="152400" bIns="76200"/>
                    <a:lstStyle/>
                    <a:p>
                      <a:r>
                        <a:rPr sz="1800" b="0">
                          <a:solidFill>
                            <a:srgbClr val="17251C"/>
                          </a:solidFill>
                          <a:latin typeface="Rubik"/>
                          <a:ea typeface="Rubik"/>
                          <a:cs typeface="Rubik"/>
                        </a:rPr>
                        <a:t>AI review</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One provider. Basic fallback omits strict fields/veto.</a:t>
                      </a:r>
                    </a:p>
                  </a:txBody>
                  <a:tcPr marL="91440" marR="91440" marT="45720" marB="45720">
                    <a:solidFill>
                      <a:srgbClr val="F4F0E4"/>
                    </a:solidFill>
                  </a:tcPr>
                </a:tc>
              </a:tr>
              <a:tr h="566057">
                <a:tc>
                  <a:txBody>
                    <a:bodyPr lIns="152400" tIns="152400" rIns="152400" bIns="76200"/>
                    <a:lstStyle/>
                    <a:p>
                      <a:r>
                        <a:rPr sz="1800" b="0">
                          <a:solidFill>
                            <a:srgbClr val="17251C"/>
                          </a:solidFill>
                          <a:latin typeface="Rubik"/>
                          <a:ea typeface="Rubik"/>
                          <a:cs typeface="Rubik"/>
                        </a:rPr>
                        <a:t>Unknown action</a:t>
                      </a:r>
                    </a:p>
                  </a:txBody>
                  <a:tcPr marL="91440" marR="91440" marT="45720" marB="45720">
                    <a:solidFill>
                      <a:srgbClr val="F4F0E4"/>
                    </a:solidFill>
                  </a:tcPr>
                </a:tc>
                <a:tc>
                  <a:txBody>
                    <a:bodyPr lIns="152400" tIns="152400" rIns="152400" bIns="76200"/>
                    <a:lstStyle/>
                    <a:p>
                      <a:r>
                        <a:rPr sz="1800" b="0">
                          <a:solidFill>
                            <a:srgbClr val="17251C"/>
                          </a:solidFill>
                          <a:latin typeface="Rubik"/>
                          <a:ea typeface="Rubik"/>
                          <a:cs typeface="Rubik"/>
                        </a:rPr>
                        <a:t>Hold affected asset and reconcile status.</a:t>
                      </a:r>
                    </a:p>
                  </a:txBody>
                  <a:tcPr marL="91440" marR="91440" marT="45720" marB="45720">
                    <a:solidFill>
                      <a:srgbClr val="F4F0E4"/>
                    </a:solidFill>
                  </a:tcPr>
                </a:tc>
              </a:tr>
            </a:tbl>
          </a:graphicData>
        </a:graphic>
      </p:graphicFrame>
      <p:sp>
        <p:nvSpPr>
          <p:cNvPr id="5" name="">
            <a:extLst xmlns:a="http://schemas.openxmlformats.org/drawingml/2006/main">
              <a:ext uri="{FF2B5EF4-FFF2-40B4-BE49-F238E27FC236}">
                <a16:creationId xmlns:a16="http://schemas.microsoft.com/office/drawing/2014/main" id="{C3E42A01-7076-485C-A6DE-4986441ECD9F}"/>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Current code. Funded dispatch and restart recovery remain unverified.</a:t>
            </a:r>
          </a:p>
        </p:txBody>
      </p:sp>
    </p:spTree>
    <p:extLst>
      <p:ext uri="{BB962C8B-B14F-4D97-AF65-F5344CB8AC3E}">
        <p14:creationId xmlns:p14="http://schemas.microsoft.com/office/powerpoint/2010/main" val="958009329"/>
      </p:ext>
    </p:extLst>
  </p:cSld>
</p:sld>
</file>

<file path=ppt/slides/slide14.xml><?xml version="1.0" encoding="utf-8"?>
<p:sld xmlns:p="http://schemas.openxmlformats.org/presentationml/2006/main">
  <p:cSld>
    <p:bg>
      <p:bgPr>
        <a:solidFill xmlns:a="http://schemas.openxmlformats.org/drawingml/2006/main">
          <a:srgbClr val="F4F0E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0D912F-1B83-4CDD-B24C-16D7B6BF8078}"/>
              </a:ext>
            </a:extLst>
          </p:cNvPr>
          <p:cNvSpPr>
            <a:spLocks xmlns:a="http://schemas.openxmlformats.org/drawingml/2006/main" noGrp="1"/>
          </p:cNvSpPr>
          <p:nvPr/>
        </p:nvSpPr>
        <p:spPr>
          <a:xfrm xmlns:a="http://schemas.openxmlformats.org/drawingml/2006/main">
            <a:off x="609600" y="381000"/>
            <a:ext cx="10039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Appendix / Provenance</a:t>
            </a:r>
          </a:p>
        </p:txBody>
      </p:sp>
      <p:sp>
        <p:nvSpPr>
          <p:cNvPr id="2" name="">
            <a:extLst xmlns:a="http://schemas.openxmlformats.org/drawingml/2006/main">
              <a:ext uri="{FF2B5EF4-FFF2-40B4-BE49-F238E27FC236}">
                <a16:creationId xmlns:a16="http://schemas.microsoft.com/office/drawing/2014/main" id="{29D9A9B0-2E82-40D3-97CB-C820A99DAE29}"/>
              </a:ext>
            </a:extLst>
          </p:cNvPr>
          <p:cNvSpPr>
            <a:spLocks xmlns:a="http://schemas.openxmlformats.org/drawingml/2006/main" noGrp="1"/>
          </p:cNvSpPr>
          <p:nvPr/>
        </p:nvSpPr>
        <p:spPr>
          <a:xfrm xmlns:a="http://schemas.openxmlformats.org/drawingml/2006/main">
            <a:off x="10877550" y="6248400"/>
            <a:ext cx="704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r">
              <a:defRPr sz="1350" b="0">
                <a:solidFill>
                  <a:srgbClr val="657567"/>
                </a:solidFill>
                <a:latin typeface="Rubik"/>
                <a:ea typeface="Rubik"/>
                <a:cs typeface="Rubik"/>
              </a:defRPr>
            </a:pPr>
            <a:r>
              <a:rPr sz="1350" b="0">
                <a:solidFill>
                  <a:srgbClr val="657567"/>
                </a:solidFill>
                <a:latin typeface="Rubik"/>
                <a:ea typeface="Rubik"/>
                <a:cs typeface="Rubik"/>
              </a:rPr>
              <a:t>14</a:t>
            </a:r>
          </a:p>
        </p:txBody>
      </p:sp>
      <p:sp>
        <p:nvSpPr>
          <p:cNvPr id="3" name="">
            <a:extLst xmlns:a="http://schemas.openxmlformats.org/drawingml/2006/main">
              <a:ext uri="{FF2B5EF4-FFF2-40B4-BE49-F238E27FC236}">
                <a16:creationId xmlns:a16="http://schemas.microsoft.com/office/drawing/2014/main" id="{A36DA72F-5464-46BA-A30A-F6A149620135}"/>
              </a:ext>
            </a:extLst>
          </p:cNvPr>
          <p:cNvSpPr>
            <a:spLocks xmlns:a="http://schemas.openxmlformats.org/drawingml/2006/main" noGrp="1"/>
          </p:cNvSpPr>
          <p:nvPr/>
        </p:nvSpPr>
        <p:spPr>
          <a:xfrm xmlns:a="http://schemas.openxmlformats.org/drawingml/2006/main">
            <a:off x="609600" y="8382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0">
                <a:solidFill>
                  <a:srgbClr val="17251C"/>
                </a:solidFill>
                <a:latin typeface="Athelas"/>
                <a:ea typeface="Athelas"/>
                <a:cs typeface="Athelas"/>
              </a:defRPr>
            </a:pPr>
            <a:r>
              <a:rPr sz="3750" b="0">
                <a:solidFill>
                  <a:srgbClr val="17251C"/>
                </a:solidFill>
                <a:latin typeface="Athelas"/>
                <a:ea typeface="Athelas"/>
                <a:cs typeface="Athelas"/>
              </a:rPr>
              <a:t>Evidence and the next proof</a:t>
            </a:r>
          </a:p>
        </p:txBody>
      </p:sp>
      <p:graphicFrame>
        <p:nvGraphicFramePr>
          <p:cNvPr id="9" name=""/>
          <p:cNvGraphicFramePr/>
          <p:nvPr/>
        </p:nvGraphicFramePr>
        <p:xfrm>
          <a:off xmlns:a="http://schemas.openxmlformats.org/drawingml/2006/main" x="609600" y="2133600"/>
          <a:ext xmlns:a="http://schemas.openxmlformats.org/drawingml/2006/main" cx="10972800" cy="3962400"/>
        </p:xfrm>
        <a:graphic xmlns:a="http://schemas.openxmlformats.org/drawingml/2006/main">
          <a:graphicData uri="http://schemas.openxmlformats.org/drawingml/2006/table">
            <a:tbl>
              <a:tblPr firstRow="0" bandRow="0"/>
              <a:tblGrid>
                <a:gridCol w="2571750"/>
                <a:gridCol w="4191000"/>
                <a:gridCol w="4210050"/>
              </a:tblGrid>
              <a:tr h="660400">
                <a:tc>
                  <a:txBody>
                    <a:bodyPr lIns="152400" tIns="152400" rIns="152400" bIns="76200"/>
                    <a:lstStyle/>
                    <a:p>
                      <a:r>
                        <a:rPr sz="1650" b="1">
                          <a:solidFill>
                            <a:srgbClr val="F4F0E4"/>
                          </a:solidFill>
                          <a:latin typeface="Rubik"/>
                          <a:ea typeface="Rubik"/>
                          <a:cs typeface="Rubik"/>
                        </a:rPr>
                        <a:t>Evidence</a:t>
                      </a:r>
                    </a:p>
                  </a:txBody>
                  <a:tcPr marL="91440" marR="91440" marT="45720" marB="45720">
                    <a:solidFill>
                      <a:srgbClr val="143A2B"/>
                    </a:solidFill>
                  </a:tcPr>
                </a:tc>
                <a:tc>
                  <a:txBody>
                    <a:bodyPr lIns="152400" tIns="152400" rIns="152400" bIns="76200"/>
                    <a:lstStyle/>
                    <a:p>
                      <a:r>
                        <a:rPr sz="1650" b="1">
                          <a:solidFill>
                            <a:srgbClr val="F4F0E4"/>
                          </a:solidFill>
                          <a:latin typeface="Rubik"/>
                          <a:ea typeface="Rubik"/>
                          <a:cs typeface="Rubik"/>
                        </a:rPr>
                        <a:t>What it supports</a:t>
                      </a:r>
                    </a:p>
                  </a:txBody>
                  <a:tcPr marL="91440" marR="91440" marT="45720" marB="45720">
                    <a:solidFill>
                      <a:srgbClr val="143A2B"/>
                    </a:solidFill>
                  </a:tcPr>
                </a:tc>
                <a:tc>
                  <a:txBody>
                    <a:bodyPr lIns="152400" tIns="152400" rIns="152400" bIns="76200"/>
                    <a:lstStyle/>
                    <a:p>
                      <a:r>
                        <a:rPr sz="1650" b="1">
                          <a:solidFill>
                            <a:srgbClr val="F4F0E4"/>
                          </a:solidFill>
                          <a:latin typeface="Rubik"/>
                          <a:ea typeface="Rubik"/>
                          <a:cs typeface="Rubik"/>
                        </a:rPr>
                        <a:t>Next check</a:t>
                      </a:r>
                    </a:p>
                  </a:txBody>
                  <a:tcPr marL="91440" marR="91440" marT="45720" marB="45720">
                    <a:solidFill>
                      <a:srgbClr val="143A2B"/>
                    </a:solidFill>
                  </a:tcPr>
                </a:tc>
              </a:tr>
              <a:tr h="660400">
                <a:tc>
                  <a:txBody>
                    <a:bodyPr lIns="152400" tIns="114300" rIns="152400" bIns="76200"/>
                    <a:lstStyle/>
                    <a:p>
                      <a:r>
                        <a:rPr sz="1800" b="0">
                          <a:solidFill>
                            <a:srgbClr val="17251C"/>
                          </a:solidFill>
                          <a:latin typeface="Rubik"/>
                          <a:ea typeface="Rubik"/>
                          <a:cs typeface="Rubik"/>
                        </a:rPr>
                        <a:t>Current code</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Normalization, roster and controls</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Verify replay and deployment</a:t>
                      </a:r>
                    </a:p>
                  </a:txBody>
                  <a:tcPr marL="91440" marR="91440" marT="45720" marB="45720">
                    <a:solidFill>
                      <a:srgbClr val="F4F0E4"/>
                    </a:solidFill>
                  </a:tcPr>
                </a:tc>
              </a:tr>
              <a:tr h="660400">
                <a:tc>
                  <a:txBody>
                    <a:bodyPr lIns="152400" tIns="114300" rIns="152400" bIns="76200"/>
                    <a:lstStyle/>
                    <a:p>
                      <a:r>
                        <a:rPr sz="1800" b="0">
                          <a:solidFill>
                            <a:srgbClr val="17251C"/>
                          </a:solidFill>
                          <a:latin typeface="Rubik"/>
                          <a:ea typeface="Rubik"/>
                          <a:cs typeface="Rubik"/>
                        </a:rPr>
                        <a:t>Earlier UI capture</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Sources, targets and paper view</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Verify deployment and capture</a:t>
                      </a:r>
                    </a:p>
                  </a:txBody>
                  <a:tcPr marL="91440" marR="91440" marT="45720" marB="45720">
                    <a:solidFill>
                      <a:srgbClr val="F4F0E4"/>
                    </a:solidFill>
                  </a:tcPr>
                </a:tc>
              </a:tr>
              <a:tr h="660400">
                <a:tc>
                  <a:txBody>
                    <a:bodyPr lIns="152400" tIns="114300" rIns="152400" bIns="76200"/>
                    <a:lstStyle/>
                    <a:p>
                      <a:r>
                        <a:rPr sz="1800" b="0">
                          <a:solidFill>
                            <a:srgbClr val="17251C"/>
                          </a:solidFill>
                          <a:latin typeface="Rubik"/>
                          <a:ea typeface="Rubik"/>
                          <a:cs typeface="Rubik"/>
                        </a:rPr>
                        <a:t>Public API / 16:30</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Six seats. Paper books. Dry executor.</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Verify funded execution</a:t>
                      </a:r>
                    </a:p>
                  </a:txBody>
                  <a:tcPr marL="91440" marR="91440" marT="45720" marB="45720">
                    <a:solidFill>
                      <a:srgbClr val="F4F0E4"/>
                    </a:solidFill>
                  </a:tcPr>
                </a:tc>
              </a:tr>
              <a:tr h="660400">
                <a:tc>
                  <a:txBody>
                    <a:bodyPr lIns="152400" tIns="114300" rIns="152400" bIns="76200"/>
                    <a:lstStyle/>
                    <a:p>
                      <a:r>
                        <a:rPr sz="1800" b="0">
                          <a:solidFill>
                            <a:srgbClr val="17251C"/>
                          </a:solidFill>
                          <a:latin typeface="Rubik"/>
                          <a:ea typeface="Rubik"/>
                          <a:cs typeface="Rubik"/>
                        </a:rPr>
                        <a:t>Historical 33/33</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One old exact snapshot</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Fresh current-math replay</a:t>
                      </a:r>
                    </a:p>
                  </a:txBody>
                  <a:tcPr marL="91440" marR="91440" marT="45720" marB="45720">
                    <a:solidFill>
                      <a:srgbClr val="F4F0E4"/>
                    </a:solidFill>
                  </a:tcPr>
                </a:tc>
              </a:tr>
              <a:tr h="660400">
                <a:tc>
                  <a:txBody>
                    <a:bodyPr lIns="152400" tIns="114300" rIns="152400" bIns="76200"/>
                    <a:lstStyle/>
                    <a:p>
                      <a:r>
                        <a:rPr sz="1800" b="0">
                          <a:solidFill>
                            <a:srgbClr val="17251C"/>
                          </a:solidFill>
                          <a:latin typeface="Rubik"/>
                          <a:ea typeface="Rubik"/>
                          <a:cs typeface="Rubik"/>
                        </a:rPr>
                        <a:t>Proposed validation</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No completed future result</a:t>
                      </a:r>
                    </a:p>
                  </a:txBody>
                  <a:tcPr marL="91440" marR="91440" marT="45720" marB="45720">
                    <a:solidFill>
                      <a:srgbClr val="F4F0E4"/>
                    </a:solidFill>
                  </a:tcPr>
                </a:tc>
                <a:tc>
                  <a:txBody>
                    <a:bodyPr lIns="152400" tIns="114300" rIns="152400" bIns="76200"/>
                    <a:lstStyle/>
                    <a:p>
                      <a:r>
                        <a:rPr sz="1800" b="0">
                          <a:solidFill>
                            <a:srgbClr val="17251C"/>
                          </a:solidFill>
                          <a:latin typeface="Rubik"/>
                          <a:ea typeface="Rubik"/>
                          <a:cs typeface="Rubik"/>
                        </a:rPr>
                        <a:t>Recovery and future holdout</a:t>
                      </a:r>
                    </a:p>
                  </a:txBody>
                  <a:tcPr marL="91440" marR="91440" marT="45720" marB="45720">
                    <a:solidFill>
                      <a:srgbClr val="F4F0E4"/>
                    </a:solidFill>
                  </a:tcPr>
                </a:tc>
              </a:tr>
            </a:tbl>
          </a:graphicData>
        </a:graphic>
      </p:graphicFrame>
      <p:sp>
        <p:nvSpPr>
          <p:cNvPr id="5" name="">
            <a:extLst xmlns:a="http://schemas.openxmlformats.org/drawingml/2006/main">
              <a:ext uri="{FF2B5EF4-FFF2-40B4-BE49-F238E27FC236}">
                <a16:creationId xmlns:a16="http://schemas.microsoft.com/office/drawing/2014/main" id="{459D474B-9101-4C87-B7A3-1CF2AFA9597E}"/>
              </a:ext>
            </a:extLst>
          </p:cNvPr>
          <p:cNvSpPr>
            <a:spLocks xmlns:a="http://schemas.openxmlformats.org/drawingml/2006/main" noGrp="1"/>
          </p:cNvSpPr>
          <p:nvPr/>
        </p:nvSpPr>
        <p:spPr>
          <a:xfrm xmlns:a="http://schemas.openxmlformats.org/drawingml/2006/main">
            <a:off x="609600" y="6248400"/>
            <a:ext cx="10039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657567"/>
                </a:solidFill>
                <a:latin typeface="Rubik"/>
                <a:ea typeface="Rubik"/>
                <a:cs typeface="Rubik"/>
              </a:defRPr>
            </a:pPr>
            <a:r>
              <a:rPr sz="1350" b="0">
                <a:solidFill>
                  <a:srgbClr val="657567"/>
                </a:solidFill>
                <a:latin typeface="Rubik"/>
                <a:ea typeface="Rubik"/>
                <a:cs typeface="Rubik"/>
              </a:rPr>
              <a:t>Public API: paper run16:30. Executor dryRun=true, lastRunAt=null. Funded fills remain unverified.</a:t>
            </a:r>
          </a:p>
        </p:txBody>
      </p:sp>
    </p:spTree>
    <p:extLst>
      <p:ext uri="{BB962C8B-B14F-4D97-AF65-F5344CB8AC3E}">
        <p14:creationId xmlns:p14="http://schemas.microsoft.com/office/powerpoint/2010/main" val="4190789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2026-10-07T10:57:16.7280000Z</dcterms:created>
  <dcterms:modified xsi:type="dcterms:W3CDTF">2026-10-07T10:57:16.7280000Z</dcterms:modified>
</coreProperties>
</file>