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44805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76072" y="13716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128016"/>
            <a:ext cx="822960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972800" cy="5852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3000" b="1">
                <a:solidFill>
                  <a:srgbClr val="F4F0E4"/>
                </a:solidFill>
                <a:latin typeface="Noto Sans CJK SC"/>
              </a:defRPr>
            </a:pPr>
            <a:r>
              <a:t>A winning wallet is not yet a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25296"/>
            <a:ext cx="1069848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Three gaps between a leaderboard and a copyable outcome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648309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28816"/>
            <a:ext cx="109728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Conceptual diagrams · not measured returns or a backtest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801368"/>
            <a:ext cx="3337560" cy="4251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1801368"/>
            <a:ext cx="68580" cy="425196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834640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01 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288036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RETURNS ≠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01368"/>
            <a:ext cx="3337560" cy="4251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01368"/>
            <a:ext cx="68580" cy="4251960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2834640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E98224"/>
                </a:solidFill>
                <a:latin typeface="Noto Sans CJK SC"/>
              </a:defRPr>
            </a:pPr>
            <a:r>
              <a:t>02 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5038344"/>
            <a:ext cx="288036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WALLETS ≠ DIVERSITY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01368"/>
            <a:ext cx="3337560" cy="4251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01368"/>
            <a:ext cx="68580" cy="4251960"/>
          </a:xfrm>
          <a:prstGeom prst="rect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011680"/>
            <a:ext cx="2834640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91C8DD"/>
                </a:solidFill>
                <a:latin typeface="Noto Sans CJK SC"/>
              </a:defRPr>
            </a:pPr>
            <a:r>
              <a:t>03  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038344"/>
            <a:ext cx="288036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SIGNAL ≠ FILL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434840"/>
            <a:ext cx="2679192" cy="0"/>
          </a:xfrm>
          <a:prstGeom prst="line">
            <a:avLst/>
          </a:prstGeom>
          <a:ln w="12700">
            <a:solidFill>
              <a:srgbClr val="CBD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2688" y="2651760"/>
            <a:ext cx="0" cy="1783080"/>
          </a:xfrm>
          <a:prstGeom prst="line">
            <a:avLst/>
          </a:prstGeom>
          <a:ln w="12700">
            <a:solidFill>
              <a:srgbClr val="CBD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9264" y="3776472"/>
            <a:ext cx="393192" cy="246888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62456" y="3776472"/>
            <a:ext cx="356616" cy="128015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719072" y="3218688"/>
            <a:ext cx="402336" cy="685799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21408" y="3218688"/>
            <a:ext cx="365760" cy="192024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87168" y="2980944"/>
            <a:ext cx="374904" cy="429768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62072" y="2980944"/>
            <a:ext cx="374904" cy="155448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36976" y="2606040"/>
            <a:ext cx="338328" cy="530352"/>
          </a:xfrm>
          <a:prstGeom prst="line">
            <a:avLst/>
          </a:prstGeom>
          <a:ln w="393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66543" y="3218688"/>
            <a:ext cx="0" cy="1078992"/>
          </a:xfrm>
          <a:prstGeom prst="line">
            <a:avLst/>
          </a:prstGeom>
          <a:ln w="13970">
            <a:solidFill>
              <a:srgbClr val="E982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99616" y="4489704"/>
            <a:ext cx="2057400" cy="21945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DRAWDOWN</a:t>
            </a:r>
          </a:p>
        </p:txBody>
      </p:sp>
      <p:sp>
        <p:nvSpPr>
          <p:cNvPr id="32" name="Oval 31"/>
          <p:cNvSpPr/>
          <p:nvPr/>
        </p:nvSpPr>
        <p:spPr>
          <a:xfrm>
            <a:off x="4928616" y="2816352"/>
            <a:ext cx="640080" cy="640080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248655" y="3456432"/>
            <a:ext cx="850393" cy="658368"/>
          </a:xfrm>
          <a:prstGeom prst="line">
            <a:avLst/>
          </a:prstGeom>
          <a:ln w="2540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25312" y="2816352"/>
            <a:ext cx="640080" cy="640080"/>
          </a:xfrm>
          <a:prstGeom prst="ellipse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6099048" y="3456432"/>
            <a:ext cx="146304" cy="658368"/>
          </a:xfrm>
          <a:prstGeom prst="line">
            <a:avLst/>
          </a:prstGeom>
          <a:ln w="25400">
            <a:solidFill>
              <a:srgbClr val="E982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922008" y="2816352"/>
            <a:ext cx="640080" cy="640080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6099048" y="3456432"/>
            <a:ext cx="1143000" cy="658368"/>
          </a:xfrm>
          <a:prstGeom prst="line">
            <a:avLst/>
          </a:prstGeom>
          <a:ln w="2540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760720" y="3858768"/>
            <a:ext cx="685800" cy="685800"/>
          </a:xfrm>
          <a:prstGeom prst="ellipse">
            <a:avLst/>
          </a:prstGeom>
          <a:solidFill>
            <a:srgbClr val="102F24"/>
          </a:solidFill>
          <a:ln w="12700">
            <a:solidFill>
              <a:srgbClr val="CB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9008" y="3977639"/>
            <a:ext cx="640080" cy="4114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800" b="1">
                <a:solidFill>
                  <a:srgbClr val="F4F0E4"/>
                </a:solidFill>
                <a:latin typeface="Noto Sans CJK SC"/>
              </a:defRPr>
            </a:pPr>
            <a:r>
              <a:t>SAME</a:t>
            </a:r>
            <a:br/>
            <a:r>
              <a:t>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2587752"/>
            <a:ext cx="256032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3 addresses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22792" y="4443984"/>
            <a:ext cx="2514600" cy="0"/>
          </a:xfrm>
          <a:prstGeom prst="line">
            <a:avLst/>
          </a:prstGeom>
          <a:ln w="12700">
            <a:solidFill>
              <a:srgbClr val="CBD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59368" y="3986784"/>
            <a:ext cx="640080" cy="0"/>
          </a:xfrm>
          <a:prstGeom prst="line">
            <a:avLst/>
          </a:prstGeom>
          <a:ln w="406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299448" y="2898648"/>
            <a:ext cx="0" cy="1088136"/>
          </a:xfrm>
          <a:prstGeom prst="line">
            <a:avLst/>
          </a:prstGeom>
          <a:ln w="406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99448" y="2898648"/>
            <a:ext cx="777240" cy="0"/>
          </a:xfrm>
          <a:prstGeom prst="line">
            <a:avLst/>
          </a:prstGeom>
          <a:ln w="406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76688" y="2898648"/>
            <a:ext cx="0" cy="640080"/>
          </a:xfrm>
          <a:prstGeom prst="line">
            <a:avLst/>
          </a:prstGeom>
          <a:ln w="406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76688" y="3538728"/>
            <a:ext cx="941832" cy="0"/>
          </a:xfrm>
          <a:prstGeom prst="line">
            <a:avLst/>
          </a:prstGeom>
          <a:ln w="406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59368" y="4187952"/>
            <a:ext cx="1014984" cy="0"/>
          </a:xfrm>
          <a:prstGeom prst="line">
            <a:avLst/>
          </a:prstGeom>
          <a:ln w="4064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674352" y="3218688"/>
            <a:ext cx="0" cy="969264"/>
          </a:xfrm>
          <a:prstGeom prst="line">
            <a:avLst/>
          </a:prstGeom>
          <a:ln w="4064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74352" y="3218688"/>
            <a:ext cx="740664" cy="0"/>
          </a:xfrm>
          <a:prstGeom prst="line">
            <a:avLst/>
          </a:prstGeom>
          <a:ln w="4064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15016" y="3218688"/>
            <a:ext cx="0" cy="512064"/>
          </a:xfrm>
          <a:prstGeom prst="line">
            <a:avLst/>
          </a:prstGeom>
          <a:ln w="4064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415016" y="3730752"/>
            <a:ext cx="603504" cy="0"/>
          </a:xfrm>
          <a:prstGeom prst="line">
            <a:avLst/>
          </a:prstGeom>
          <a:ln w="4064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723376" y="4590288"/>
            <a:ext cx="941832" cy="320040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7384" y="4604003"/>
            <a:ext cx="813816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1">
                <a:solidFill>
                  <a:srgbClr val="143A2B"/>
                </a:solidFill>
                <a:latin typeface="Noto Sans CJK SC"/>
              </a:defRPr>
            </a:pPr>
            <a:r>
              <a:t>SOURCE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11512" y="4590288"/>
            <a:ext cx="1115568" cy="320040"/>
          </a:xfrm>
          <a:prstGeom prst="roundRect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4604003"/>
            <a:ext cx="987552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1">
                <a:solidFill>
                  <a:srgbClr val="143A2B"/>
                </a:solidFill>
                <a:latin typeface="Noto Sans CJK SC"/>
              </a:defRPr>
            </a:pPr>
            <a:r>
              <a:t>FOLLOWER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6181344"/>
            <a:ext cx="10881360" cy="21031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0">
                <a:solidFill>
                  <a:srgbClr val="CBD9C8"/>
                </a:solidFill>
                <a:latin typeface="Noto Sans CJK SC"/>
              </a:defRPr>
            </a:pPr>
            <a:r>
              <a:t>Selection, overlap, execution: one connected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44805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76072" y="13716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128016"/>
            <a:ext cx="822960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972800" cy="5852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3000" b="1">
                <a:solidFill>
                  <a:srgbClr val="F4F0E4"/>
                </a:solidFill>
                <a:latin typeface="Noto Sans CJK SC"/>
              </a:defRPr>
            </a:pPr>
            <a:r>
              <a:t>Turn public signals into controlled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25296"/>
            <a:ext cx="1069848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A traceable path from discovery to recorded execution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648309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28816"/>
            <a:ext cx="109728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Repository: pipeline/index.ts · review/workflow.ts · executor/src/runner.ts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93392"/>
            <a:ext cx="2313432" cy="250545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240280"/>
            <a:ext cx="960120" cy="960120"/>
          </a:xfrm>
          <a:prstGeom prst="ellipse">
            <a:avLst/>
          </a:prstGeom>
          <a:solidFill>
            <a:srgbClr val="102F24"/>
          </a:solidFill>
          <a:ln w="1270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90472" y="2496312"/>
            <a:ext cx="539496" cy="0"/>
          </a:xfrm>
          <a:prstGeom prst="line">
            <a:avLst/>
          </a:prstGeom>
          <a:ln w="279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90472" y="2660904"/>
            <a:ext cx="539496" cy="0"/>
          </a:xfrm>
          <a:prstGeom prst="line">
            <a:avLst/>
          </a:prstGeom>
          <a:ln w="279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90472" y="2825496"/>
            <a:ext cx="539496" cy="0"/>
          </a:xfrm>
          <a:prstGeom prst="line">
            <a:avLst/>
          </a:prstGeom>
          <a:ln w="2794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" y="3419856"/>
            <a:ext cx="201168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2039112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Public evidence</a:t>
            </a:r>
          </a:p>
        </p:txBody>
      </p:sp>
      <p:sp>
        <p:nvSpPr>
          <p:cNvPr id="16" name="Chevron 15"/>
          <p:cNvSpPr/>
          <p:nvPr/>
        </p:nvSpPr>
        <p:spPr>
          <a:xfrm>
            <a:off x="3063240" y="3108960"/>
            <a:ext cx="228600" cy="32918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3008" y="1993392"/>
            <a:ext cx="2313432" cy="250545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0520" y="2240280"/>
            <a:ext cx="960120" cy="960120"/>
          </a:xfrm>
          <a:prstGeom prst="ellipse">
            <a:avLst/>
          </a:prstGeom>
          <a:solidFill>
            <a:srgbClr val="102F24"/>
          </a:solidFill>
          <a:ln w="12700">
            <a:solidFill>
              <a:srgbClr val="E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2544" y="2770632"/>
            <a:ext cx="128016" cy="201168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62856" y="2615184"/>
            <a:ext cx="128016" cy="356616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73168" y="2459736"/>
            <a:ext cx="128016" cy="512064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3419856"/>
            <a:ext cx="201168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931920"/>
            <a:ext cx="2039112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Risk-adjusted rank</a:t>
            </a:r>
          </a:p>
        </p:txBody>
      </p:sp>
      <p:sp>
        <p:nvSpPr>
          <p:cNvPr id="24" name="Chevron 23"/>
          <p:cNvSpPr/>
          <p:nvPr/>
        </p:nvSpPr>
        <p:spPr>
          <a:xfrm>
            <a:off x="5943600" y="3108960"/>
            <a:ext cx="228600" cy="32918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3368" y="1993392"/>
            <a:ext cx="2313432" cy="250545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2240280"/>
            <a:ext cx="960120" cy="960120"/>
          </a:xfrm>
          <a:prstGeom prst="ellipse">
            <a:avLst/>
          </a:prstGeom>
          <a:solidFill>
            <a:srgbClr val="102F24"/>
          </a:solidFill>
          <a:ln w="12700">
            <a:solidFill>
              <a:srgbClr val="91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42048" y="2459736"/>
            <a:ext cx="228600" cy="228600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89520" y="2459736"/>
            <a:ext cx="228600" cy="228600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315200" y="2816352"/>
            <a:ext cx="411479" cy="0"/>
          </a:xfrm>
          <a:prstGeom prst="line">
            <a:avLst/>
          </a:prstGeom>
          <a:ln w="25400">
            <a:solidFill>
              <a:srgbClr val="91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9672" y="3419856"/>
            <a:ext cx="201168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931920"/>
            <a:ext cx="2039112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Structured judgment</a:t>
            </a:r>
          </a:p>
        </p:txBody>
      </p:sp>
      <p:sp>
        <p:nvSpPr>
          <p:cNvPr id="32" name="Chevron 31"/>
          <p:cNvSpPr/>
          <p:nvPr/>
        </p:nvSpPr>
        <p:spPr>
          <a:xfrm>
            <a:off x="8823960" y="3108960"/>
            <a:ext cx="228600" cy="32918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53728" y="1993392"/>
            <a:ext cx="2313432" cy="2505456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21240" y="2240280"/>
            <a:ext cx="960120" cy="960120"/>
          </a:xfrm>
          <a:prstGeom prst="ellipse">
            <a:avLst/>
          </a:prstGeom>
          <a:solidFill>
            <a:srgbClr val="102F24"/>
          </a:solidFill>
          <a:ln w="12700">
            <a:solidFill>
              <a:srgbClr val="E5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094976" y="2798064"/>
            <a:ext cx="146304" cy="146304"/>
          </a:xfrm>
          <a:prstGeom prst="line">
            <a:avLst/>
          </a:prstGeom>
          <a:ln w="38100">
            <a:solidFill>
              <a:srgbClr val="E5E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241280" y="2514600"/>
            <a:ext cx="420624" cy="429768"/>
          </a:xfrm>
          <a:prstGeom prst="line">
            <a:avLst/>
          </a:prstGeom>
          <a:ln w="38100">
            <a:solidFill>
              <a:srgbClr val="E5E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400032" y="3419856"/>
            <a:ext cx="2011680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MIRROR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3931920"/>
            <a:ext cx="2039112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Targets + record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792224" y="4791456"/>
            <a:ext cx="8613648" cy="0"/>
          </a:xfrm>
          <a:prstGeom prst="line">
            <a:avLst/>
          </a:prstGeom>
          <a:ln w="254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801368" y="4581144"/>
            <a:ext cx="411480" cy="411480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5093208"/>
            <a:ext cx="1069848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500" b="1">
                <a:solidFill>
                  <a:srgbClr val="F4F0E4"/>
                </a:solidFill>
                <a:latin typeface="Noto Sans CJK SC"/>
              </a:defRPr>
            </a:pPr>
            <a:r>
              <a:t>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5431536"/>
            <a:ext cx="150876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recomputed</a:t>
            </a:r>
          </a:p>
        </p:txBody>
      </p:sp>
      <p:sp>
        <p:nvSpPr>
          <p:cNvPr id="43" name="Oval 42"/>
          <p:cNvSpPr/>
          <p:nvPr/>
        </p:nvSpPr>
        <p:spPr>
          <a:xfrm>
            <a:off x="5815584" y="4581144"/>
            <a:ext cx="411480" cy="411480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77256" y="5093208"/>
            <a:ext cx="1069848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500" b="1">
                <a:solidFill>
                  <a:srgbClr val="F4F0E4"/>
                </a:solidFill>
                <a:latin typeface="Noto Sans CJK SC"/>
              </a:defRPr>
            </a:pPr>
            <a:r>
              <a:t>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5431536"/>
            <a:ext cx="150876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bounded</a:t>
            </a:r>
          </a:p>
        </p:txBody>
      </p:sp>
      <p:sp>
        <p:nvSpPr>
          <p:cNvPr id="46" name="Oval 45"/>
          <p:cNvSpPr/>
          <p:nvPr/>
        </p:nvSpPr>
        <p:spPr>
          <a:xfrm>
            <a:off x="9683496" y="4581144"/>
            <a:ext cx="411480" cy="411480"/>
          </a:xfrm>
          <a:prstGeom prst="ellipse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5168" y="5093208"/>
            <a:ext cx="1069848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500" b="1">
                <a:solidFill>
                  <a:srgbClr val="F4F0E4"/>
                </a:solidFill>
                <a:latin typeface="Noto Sans CJK SC"/>
              </a:defRPr>
            </a:pPr>
            <a:r>
              <a:t>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4856" y="5431536"/>
            <a:ext cx="150876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authoritative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" y="6035040"/>
            <a:ext cx="10716768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800" b="1">
                <a:solidFill>
                  <a:srgbClr val="F4F0E4"/>
                </a:solidFill>
                <a:latin typeface="Noto Sans CJK SC"/>
              </a:defRPr>
            </a:pPr>
            <a:r>
              <a:t>Models assess. Rules allocate. The executor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44805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76072" y="13716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SOLUTION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128016"/>
            <a:ext cx="822960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972800" cy="5852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3000" b="1">
                <a:solidFill>
                  <a:srgbClr val="F4F0E4"/>
                </a:solidFill>
                <a:latin typeface="Noto Sans CJK SC"/>
              </a:defRPr>
            </a:pPr>
            <a:r>
              <a:t>Two loops. One active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25296"/>
            <a:ext cx="1069848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Selection decides whom to follow; the mirror decides what to hold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648309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28816"/>
            <a:ext cx="109728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Repository: pipeline/index.ts · configuration-source.ts · executor/src/targets.ts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783080"/>
            <a:ext cx="1737360" cy="320040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6795"/>
            <a:ext cx="1609343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SELECTION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1783080"/>
            <a:ext cx="649224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Review on changed picks or expiry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04288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4"/>
            <a:ext cx="169164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SCAN</a:t>
            </a:r>
          </a:p>
        </p:txBody>
      </p:sp>
      <p:sp>
        <p:nvSpPr>
          <p:cNvPr id="14" name="Chevron 13"/>
          <p:cNvSpPr/>
          <p:nvPr/>
        </p:nvSpPr>
        <p:spPr>
          <a:xfrm>
            <a:off x="2633472" y="2569464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43784" y="2304288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523744"/>
            <a:ext cx="169164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SCORE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791456" y="2569464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01768" y="2304288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7" y="2523744"/>
            <a:ext cx="169164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REVIEW</a:t>
            </a:r>
          </a:p>
        </p:txBody>
      </p:sp>
      <p:sp>
        <p:nvSpPr>
          <p:cNvPr id="20" name="Chevron 19"/>
          <p:cNvSpPr/>
          <p:nvPr/>
        </p:nvSpPr>
        <p:spPr>
          <a:xfrm>
            <a:off x="6949440" y="2569464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59752" y="2304288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2523744"/>
            <a:ext cx="169164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BENCH</a:t>
            </a:r>
          </a:p>
        </p:txBody>
      </p:sp>
      <p:sp>
        <p:nvSpPr>
          <p:cNvPr id="23" name="Chevron 22"/>
          <p:cNvSpPr/>
          <p:nvPr/>
        </p:nvSpPr>
        <p:spPr>
          <a:xfrm>
            <a:off x="9107424" y="2569464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17736" y="2304288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2523744"/>
            <a:ext cx="169164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ROSTER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32136" y="3127248"/>
            <a:ext cx="0" cy="576072"/>
          </a:xfrm>
          <a:prstGeom prst="line">
            <a:avLst/>
          </a:prstGeom>
          <a:ln w="3556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012680" y="3429000"/>
            <a:ext cx="429768" cy="429768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410712"/>
            <a:ext cx="306324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500" b="1">
                <a:solidFill>
                  <a:srgbClr val="F7C948"/>
                </a:solidFill>
                <a:latin typeface="Noto Sans CJK SC"/>
              </a:defRPr>
            </a:pPr>
            <a:r>
              <a:t>ACTIVE CONFIG + HASH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3822191"/>
            <a:ext cx="1737360" cy="320040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35907"/>
            <a:ext cx="1609343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MIRROR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3822191"/>
            <a:ext cx="649224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Snapshot and target path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343400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553712"/>
            <a:ext cx="1728216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POSITIONS</a:t>
            </a:r>
          </a:p>
        </p:txBody>
      </p:sp>
      <p:sp>
        <p:nvSpPr>
          <p:cNvPr id="34" name="Chevron 33"/>
          <p:cNvSpPr/>
          <p:nvPr/>
        </p:nvSpPr>
        <p:spPr>
          <a:xfrm>
            <a:off x="2633472" y="4608576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43784" y="4343400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6936" y="4553712"/>
            <a:ext cx="1728216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SNAPSHOT</a:t>
            </a:r>
          </a:p>
        </p:txBody>
      </p:sp>
      <p:sp>
        <p:nvSpPr>
          <p:cNvPr id="37" name="Chevron 36"/>
          <p:cNvSpPr/>
          <p:nvPr/>
        </p:nvSpPr>
        <p:spPr>
          <a:xfrm>
            <a:off x="4791456" y="4608576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01768" y="4343400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4553712"/>
            <a:ext cx="1728216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500" b="1">
                <a:solidFill>
                  <a:srgbClr val="F4F0E4"/>
                </a:solidFill>
                <a:latin typeface="Noto Sans CJK SC"/>
              </a:defRPr>
            </a:pPr>
            <a:r>
              <a:t>NET TARGETS</a:t>
            </a:r>
          </a:p>
        </p:txBody>
      </p:sp>
      <p:sp>
        <p:nvSpPr>
          <p:cNvPr id="40" name="Chevron 39"/>
          <p:cNvSpPr/>
          <p:nvPr/>
        </p:nvSpPr>
        <p:spPr>
          <a:xfrm>
            <a:off x="6949440" y="4608576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59752" y="4343400"/>
            <a:ext cx="1874519" cy="822960"/>
          </a:xfrm>
          <a:prstGeom prst="roundRect">
            <a:avLst/>
          </a:prstGeom>
          <a:solidFill>
            <a:srgbClr val="1E503A"/>
          </a:solidFill>
          <a:ln w="1270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2904" y="4553712"/>
            <a:ext cx="1728216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EXECUTOR</a:t>
            </a:r>
          </a:p>
        </p:txBody>
      </p:sp>
      <p:sp>
        <p:nvSpPr>
          <p:cNvPr id="43" name="Chevron 42"/>
          <p:cNvSpPr/>
          <p:nvPr/>
        </p:nvSpPr>
        <p:spPr>
          <a:xfrm>
            <a:off x="9107424" y="4608576"/>
            <a:ext cx="146304" cy="237744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17736" y="4343400"/>
            <a:ext cx="1874519" cy="822960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4553712"/>
            <a:ext cx="1728216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RUN 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568696"/>
            <a:ext cx="10515600" cy="585216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5705856"/>
            <a:ext cx="10003536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600" b="1">
                <a:solidFill>
                  <a:srgbClr val="F4F0E4"/>
                </a:solidFill>
                <a:latin typeface="Noto Sans CJK SC"/>
              </a:defRPr>
            </a:pPr>
            <a:r>
              <a:t>Selection updates membership. The 10-minute mirror follows the active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44805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76072" y="13716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SIMILAR 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128016"/>
            <a:ext cx="822960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972800" cy="5852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3000" b="1">
                <a:solidFill>
                  <a:srgbClr val="F4F0E4"/>
                </a:solidFill>
                <a:latin typeface="Noto Sans CJK SC"/>
              </a:defRPr>
            </a:pPr>
            <a:r>
              <a:t>Adjacent products start at different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25296"/>
            <a:ext cx="10698480" cy="31089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Product positioning—not a feature or performance ranking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6483096"/>
            <a:ext cx="11146536" cy="0"/>
          </a:xfrm>
          <a:prstGeom prst="line">
            <a:avLst/>
          </a:prstGeom>
          <a:ln w="12700">
            <a:solidFill>
              <a:srgbClr val="276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28816"/>
            <a:ext cx="109728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Sources: Hyperliquid tools + vault docs · OKX copy-trading docs · HypurrScan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01952"/>
            <a:ext cx="2313432" cy="330098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08176" y="2304288"/>
            <a:ext cx="722376" cy="722376"/>
          </a:xfrm>
          <a:prstGeom prst="ellipse">
            <a:avLst/>
          </a:prstGeom>
          <a:solidFill>
            <a:srgbClr val="102F24"/>
          </a:solidFill>
          <a:ln w="1270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956816" y="2880360"/>
            <a:ext cx="320040" cy="320040"/>
          </a:xfrm>
          <a:prstGeom prst="line">
            <a:avLst/>
          </a:prstGeom>
          <a:ln w="5080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" y="3502152"/>
            <a:ext cx="2057400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HYPURRSCAN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867912"/>
            <a:ext cx="2139696" cy="4663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9704"/>
            <a:ext cx="2084831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Chain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901952"/>
            <a:ext cx="2313432" cy="330098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2423160"/>
            <a:ext cx="685800" cy="438912"/>
          </a:xfrm>
          <a:prstGeom prst="rect">
            <a:avLst/>
          </a:prstGeom>
          <a:solidFill>
            <a:srgbClr val="102F24"/>
          </a:solidFill>
          <a:ln w="12700">
            <a:solidFill>
              <a:srgbClr val="E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3128" y="2615184"/>
            <a:ext cx="685800" cy="438912"/>
          </a:xfrm>
          <a:prstGeom prst="rect">
            <a:avLst/>
          </a:prstGeom>
          <a:solidFill>
            <a:srgbClr val="102F24"/>
          </a:solidFill>
          <a:ln w="12700">
            <a:solidFill>
              <a:srgbClr val="E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3" y="2807208"/>
            <a:ext cx="685800" cy="438912"/>
          </a:xfrm>
          <a:prstGeom prst="rect">
            <a:avLst/>
          </a:prstGeom>
          <a:solidFill>
            <a:srgbClr val="102F24"/>
          </a:solidFill>
          <a:ln w="12700">
            <a:solidFill>
              <a:srgbClr val="E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3502152"/>
            <a:ext cx="2057400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OKX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867912"/>
            <a:ext cx="2139696" cy="4663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FOLLOW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489704"/>
            <a:ext cx="2084831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Lead traders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1901952"/>
            <a:ext cx="2313432" cy="330098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04888" y="2395728"/>
            <a:ext cx="877824" cy="813816"/>
          </a:xfrm>
          <a:prstGeom prst="roundRect">
            <a:avLst/>
          </a:prstGeom>
          <a:solidFill>
            <a:srgbClr val="102F24"/>
          </a:solidFill>
          <a:ln w="12700">
            <a:solidFill>
              <a:srgbClr val="91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24927" y="2642616"/>
            <a:ext cx="237744" cy="237744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3502152"/>
            <a:ext cx="2057400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HL VAULTS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867912"/>
            <a:ext cx="2139696" cy="4663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DEPOSIT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89704"/>
            <a:ext cx="2084831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Pooled strategy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53728" y="1901952"/>
            <a:ext cx="2313432" cy="3300984"/>
          </a:xfrm>
          <a:prstGeom prst="roundRect">
            <a:avLst/>
          </a:prstGeom>
          <a:solidFill>
            <a:srgbClr val="276047"/>
          </a:solidFill>
          <a:ln w="12700">
            <a:solidFill>
              <a:srgbClr val="E5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03536" y="2532888"/>
            <a:ext cx="283464" cy="283464"/>
          </a:xfrm>
          <a:prstGeom prst="ellipse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97896" y="2377440"/>
            <a:ext cx="283464" cy="283464"/>
          </a:xfrm>
          <a:prstGeom prst="ellipse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9607" y="2953512"/>
            <a:ext cx="283464" cy="283464"/>
          </a:xfrm>
          <a:prstGeom prst="ellipse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0287000" y="2532888"/>
            <a:ext cx="365759" cy="137160"/>
          </a:xfrm>
          <a:prstGeom prst="line">
            <a:avLst/>
          </a:prstGeom>
          <a:ln w="25400">
            <a:solidFill>
              <a:srgbClr val="E5E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87000" y="2670048"/>
            <a:ext cx="384048" cy="384048"/>
          </a:xfrm>
          <a:prstGeom prst="line">
            <a:avLst/>
          </a:prstGeom>
          <a:ln w="25400">
            <a:solidFill>
              <a:srgbClr val="E5E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381744" y="3502152"/>
            <a:ext cx="2057400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PERPPARROT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3867912"/>
            <a:ext cx="2139696" cy="4663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489704"/>
            <a:ext cx="2084831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100" b="0">
                <a:solidFill>
                  <a:srgbClr val="CBD9C8"/>
                </a:solidFill>
                <a:latin typeface="Noto Sans CJK SC"/>
              </a:defRPr>
            </a:pPr>
            <a:r>
              <a:t>Multiple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05272"/>
            <a:ext cx="1426464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100" b="1">
                <a:solidFill>
                  <a:srgbClr val="F7C948"/>
                </a:solidFill>
                <a:latin typeface="Noto Sans CJK SC"/>
              </a:defRPr>
            </a:pPr>
            <a:r>
              <a:t>OUR FOCUS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04288" y="5751576"/>
            <a:ext cx="9043416" cy="0"/>
          </a:xfrm>
          <a:prstGeom prst="line">
            <a:avLst/>
          </a:prstGeom>
          <a:ln w="26670">
            <a:solidFill>
              <a:srgbClr val="F7C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86584" y="5870448"/>
            <a:ext cx="8878824" cy="3566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Select → review → compose → mirror →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3111" cy="18288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28016"/>
            <a:ext cx="82296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881360" cy="5120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Four stops. One traceable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16128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A current-main walkthrough: ingest → score → AI review → executor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69380"/>
            <a:ext cx="11183111" cy="13715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0528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GitHub main  5fa18ec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6510528"/>
            <a:ext cx="7927848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pipeline/index.ts  ·  backend/server.ts  ·  executor/runner.ts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057400"/>
            <a:ext cx="2551176" cy="145389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057400"/>
            <a:ext cx="64008" cy="1453896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49424"/>
            <a:ext cx="438912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60904"/>
            <a:ext cx="2203704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27248"/>
            <a:ext cx="2212848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Discover and refresh</a:t>
            </a:r>
          </a:p>
        </p:txBody>
      </p:sp>
      <p:sp>
        <p:nvSpPr>
          <p:cNvPr id="15" name="Chevron 14"/>
          <p:cNvSpPr/>
          <p:nvPr/>
        </p:nvSpPr>
        <p:spPr>
          <a:xfrm>
            <a:off x="3218688" y="2642616"/>
            <a:ext cx="146304" cy="228600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0712" y="2057400"/>
            <a:ext cx="2551176" cy="145389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2057400"/>
            <a:ext cx="64008" cy="1453896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249424"/>
            <a:ext cx="438912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E98224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2660904"/>
            <a:ext cx="2203704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127248"/>
            <a:ext cx="2212848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Screen and group</a:t>
            </a:r>
          </a:p>
        </p:txBody>
      </p:sp>
      <p:sp>
        <p:nvSpPr>
          <p:cNvPr id="21" name="Chevron 20"/>
          <p:cNvSpPr/>
          <p:nvPr/>
        </p:nvSpPr>
        <p:spPr>
          <a:xfrm>
            <a:off x="6016752" y="2642616"/>
            <a:ext cx="146304" cy="228600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2057400"/>
            <a:ext cx="2551176" cy="145389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2057400"/>
            <a:ext cx="64008" cy="1453896"/>
          </a:xfrm>
          <a:prstGeom prst="rect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249424"/>
            <a:ext cx="438912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91C8DD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660904"/>
            <a:ext cx="2203704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AI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127248"/>
            <a:ext cx="2212848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Approve or reject</a:t>
            </a:r>
          </a:p>
        </p:txBody>
      </p:sp>
      <p:sp>
        <p:nvSpPr>
          <p:cNvPr id="27" name="Chevron 26"/>
          <p:cNvSpPr/>
          <p:nvPr/>
        </p:nvSpPr>
        <p:spPr>
          <a:xfrm>
            <a:off x="8814816" y="2642616"/>
            <a:ext cx="146304" cy="228600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06840" y="2057400"/>
            <a:ext cx="2551176" cy="1453896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057400"/>
            <a:ext cx="64008" cy="1453896"/>
          </a:xfrm>
          <a:prstGeom prst="rect">
            <a:avLst/>
          </a:prstGeom>
          <a:solidFill>
            <a:srgbClr val="F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2249424"/>
            <a:ext cx="438912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4F0E4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660904"/>
            <a:ext cx="2203704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3127248"/>
            <a:ext cx="2212848" cy="23774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Run and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3977639"/>
            <a:ext cx="5248656" cy="1453896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7824" y="4215384"/>
            <a:ext cx="1783080" cy="329184"/>
          </a:xfrm>
          <a:prstGeom prst="roundRect">
            <a:avLst/>
          </a:prstGeom>
          <a:solidFill>
            <a:srgbClr val="BA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229100"/>
            <a:ext cx="1636776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F4F0E4"/>
                </a:solidFill>
                <a:latin typeface="Noto Sans CJK SC"/>
              </a:defRPr>
            </a:pPr>
            <a:r>
              <a:t>SELECTION #10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4718304"/>
            <a:ext cx="4453128" cy="3566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000" b="1">
                <a:solidFill>
                  <a:srgbClr val="F4F0E4"/>
                </a:solidFill>
                <a:latin typeface="Noto Sans CJK SC"/>
              </a:defRPr>
            </a:pPr>
            <a:r>
              <a:t>AI review rejected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9904" y="3977639"/>
            <a:ext cx="5486400" cy="1453896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64224" y="4215384"/>
            <a:ext cx="1719072" cy="329184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4229100"/>
            <a:ext cx="1572768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RUN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4718304"/>
            <a:ext cx="4791456" cy="35661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000" b="1">
                <a:solidFill>
                  <a:srgbClr val="F4F0E4"/>
                </a:solidFill>
                <a:latin typeface="Noto Sans CJK SC"/>
              </a:defRPr>
            </a:pPr>
            <a:r>
              <a:t>Executor run recorded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16168" y="4343400"/>
            <a:ext cx="27432" cy="850391"/>
          </a:xfrm>
          <a:prstGeom prst="rect">
            <a:avLst/>
          </a:prstGeom>
          <a:solidFill>
            <a:srgbClr val="CB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5751576"/>
            <a:ext cx="10844784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Execution uses an earlier active configuration and a position snapshot.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3111" cy="18288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28016"/>
            <a:ext cx="82296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881360" cy="5120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Discover broadly. Refresh in tiers.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16128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Broad discovery first; portfolio and fills are refreshed in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69380"/>
            <a:ext cx="11183111" cy="13715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0528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GitHub main  5fa18ec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6510528"/>
            <a:ext cx="7927848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Observed 2026-10-07 21:26 UTC+8  ·  /api/backend/pipeline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00784"/>
            <a:ext cx="6885432" cy="3172968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83664"/>
            <a:ext cx="557784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1">
                <a:solidFill>
                  <a:srgbClr val="CBD9C8"/>
                </a:solidFill>
                <a:latin typeface="Noto Sans CJK SC"/>
              </a:defRPr>
            </a:pPr>
            <a:r>
              <a:t>PUBLIC DATA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432304"/>
            <a:ext cx="2450592" cy="98755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2734056"/>
            <a:ext cx="210312" cy="210312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8" y="2587752"/>
            <a:ext cx="1773936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Leaderboard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2907792"/>
            <a:ext cx="173736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traders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432304"/>
            <a:ext cx="2450592" cy="98755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59936" y="2734056"/>
            <a:ext cx="210312" cy="210312"/>
          </a:xfrm>
          <a:prstGeom prst="ellipse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587752"/>
            <a:ext cx="1773936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Vault 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907792"/>
            <a:ext cx="173736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vaults</a:t>
            </a:r>
          </a:p>
        </p:txBody>
      </p:sp>
      <p:sp>
        <p:nvSpPr>
          <p:cNvPr id="20" name="Chevron 19"/>
          <p:cNvSpPr/>
          <p:nvPr/>
        </p:nvSpPr>
        <p:spPr>
          <a:xfrm>
            <a:off x="3593592" y="2816352"/>
            <a:ext cx="228600" cy="237744"/>
          </a:xfrm>
          <a:prstGeom prst="chevron">
            <a:avLst/>
          </a:prstGeom>
          <a:solidFill>
            <a:srgbClr val="CB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" y="3803904"/>
            <a:ext cx="6172200" cy="768096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3977639"/>
            <a:ext cx="91440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600" b="1">
                <a:solidFill>
                  <a:srgbClr val="F7C948"/>
                </a:solidFill>
                <a:latin typeface="Noto Sans CJK SC"/>
              </a:defRPr>
            </a:pPr>
            <a:r>
              <a:t>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9424" y="3941063"/>
            <a:ext cx="393192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200" b="1">
                <a:solidFill>
                  <a:srgbClr val="CBD9C8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3977639"/>
            <a:ext cx="1344168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600" b="1">
                <a:solidFill>
                  <a:srgbClr val="F4F0E4"/>
                </a:solidFill>
                <a:latin typeface="Noto Sans CJK SC"/>
              </a:defRPr>
            </a:pPr>
            <a:r>
              <a:t>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941063"/>
            <a:ext cx="393192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200" b="1">
                <a:solidFill>
                  <a:srgbClr val="CBD9C8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977639"/>
            <a:ext cx="196596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600" b="1">
                <a:solidFill>
                  <a:srgbClr val="F4F0E4"/>
                </a:solidFill>
                <a:latin typeface="Noto Sans CJK SC"/>
              </a:defRPr>
            </a:pPr>
            <a:r>
              <a:t>SCORE 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1700784"/>
            <a:ext cx="3867912" cy="3172968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1901952"/>
            <a:ext cx="329184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DATA CLOCK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0" y="2478024"/>
            <a:ext cx="274320" cy="274320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2395728"/>
            <a:ext cx="914400" cy="40233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12h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441448"/>
            <a:ext cx="1920240" cy="2468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0">
                <a:solidFill>
                  <a:srgbClr val="CBD9C8"/>
                </a:solidFill>
                <a:latin typeface="Noto Sans CJK SC"/>
              </a:defRPr>
            </a:pPr>
            <a:r>
              <a:t>account discovery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0" y="3127248"/>
            <a:ext cx="274320" cy="274320"/>
          </a:xfrm>
          <a:prstGeom prst="ellipse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044952"/>
            <a:ext cx="914400" cy="40233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3090672"/>
            <a:ext cx="1920240" cy="2468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0">
                <a:solidFill>
                  <a:srgbClr val="CBD9C8"/>
                </a:solidFill>
                <a:latin typeface="Noto Sans CJK SC"/>
              </a:defRPr>
            </a:pPr>
            <a:r>
              <a:t>refresh trigger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0" y="3776472"/>
            <a:ext cx="274320" cy="274320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3694176"/>
            <a:ext cx="914400" cy="40233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10m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739896"/>
            <a:ext cx="1920240" cy="2468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0">
                <a:solidFill>
                  <a:srgbClr val="CBD9C8"/>
                </a:solidFill>
                <a:latin typeface="Noto Sans CJK SC"/>
              </a:defRPr>
            </a:pPr>
            <a:r>
              <a:t>candidate selection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5157216"/>
            <a:ext cx="3511296" cy="950976"/>
          </a:xfrm>
          <a:prstGeom prst="roundRect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294376"/>
            <a:ext cx="2084831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600" b="1">
                <a:solidFill>
                  <a:srgbClr val="143A2B"/>
                </a:solidFill>
                <a:latin typeface="Noto Sans CJK SC"/>
              </a:defRPr>
            </a:pPr>
            <a:r>
              <a:t>13,224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2344" y="5294376"/>
            <a:ext cx="1170432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LISTED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41448" y="5586984"/>
            <a:ext cx="1481328" cy="21031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143A2B"/>
                </a:solidFill>
                <a:latin typeface="Noto Sans CJK SC"/>
              </a:defRPr>
            </a:pPr>
            <a:r>
              <a:t>current account pool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15968" y="5157216"/>
            <a:ext cx="3511296" cy="950976"/>
          </a:xfrm>
          <a:prstGeom prst="roundRect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59" y="5294376"/>
            <a:ext cx="2084831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600" b="1">
                <a:solidFill>
                  <a:srgbClr val="143A2B"/>
                </a:solidFill>
                <a:latin typeface="Noto Sans CJK SC"/>
              </a:defRPr>
            </a:pPr>
            <a:r>
              <a:t>12,662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5294376"/>
            <a:ext cx="1170432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FRESH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5586984"/>
            <a:ext cx="1481328" cy="21031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143A2B"/>
                </a:solidFill>
                <a:latin typeface="Noto Sans CJK SC"/>
              </a:defRPr>
            </a:pPr>
            <a:r>
              <a:t>latest refresh status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9288" y="5157216"/>
            <a:ext cx="3511296" cy="950976"/>
          </a:xfrm>
          <a:prstGeom prst="roundRect">
            <a:avLst/>
          </a:prstGeom>
          <a:solidFill>
            <a:srgbClr val="E5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5294376"/>
            <a:ext cx="2084831" cy="38404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600" b="1">
                <a:solidFill>
                  <a:srgbClr val="143A2B"/>
                </a:solidFill>
                <a:latin typeface="Noto Sans CJK SC"/>
              </a:defRPr>
            </a:pPr>
            <a:r>
              <a:t>250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8984" y="5294376"/>
            <a:ext cx="1170432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QUALIFIED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088" y="5586984"/>
            <a:ext cx="1481328" cy="21031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143A2B"/>
                </a:solidFill>
                <a:latin typeface="Noto Sans CJK SC"/>
              </a:defRPr>
            </a:pPr>
            <a:r>
              <a:t>current qualified pool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" y="6163056"/>
            <a:ext cx="987552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900" b="0">
                <a:solidFill>
                  <a:srgbClr val="CBD9C8"/>
                </a:solidFill>
                <a:latin typeface="Noto Sans CJK SC"/>
              </a:defRPr>
            </a:pPr>
            <a:r>
              <a:t>Different update times · these three counts are not one single funnel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3111" cy="18288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28016"/>
            <a:ext cx="82296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881360" cy="5120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Score turns accounts into review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16128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Hard filters + risk-adjusted metrics + strategy grouping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69380"/>
            <a:ext cx="11183111" cy="13715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0528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GitHub main  5fa18ec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6510528"/>
            <a:ext cx="7927848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ScoreConfig + pipeline/index.ts  ·  selection #10: 25 finalists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00784"/>
            <a:ext cx="7178040" cy="197510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3657600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1">
                <a:solidFill>
                  <a:srgbClr val="F7C948"/>
                </a:solidFill>
                <a:latin typeface="Noto Sans CJK SC"/>
              </a:defRPr>
            </a:pPr>
            <a:r>
              <a:t>01   HARD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2350008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386584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Equity ≥ $10k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2350008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2386584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Active ≥ 30d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350008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2386584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Still 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2350008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2386584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Orders ≥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2907791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944368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Not 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2032" y="2907791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2944368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25+ month 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2907791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2944368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312" y="2907791"/>
            <a:ext cx="1527048" cy="39319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2944368"/>
            <a:ext cx="1426464" cy="30175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0">
                <a:solidFill>
                  <a:srgbClr val="F4F0E4"/>
                </a:solidFill>
                <a:latin typeface="Noto Sans CJK SC"/>
              </a:defRPr>
            </a:pPr>
            <a:r>
              <a:t>No ruin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3886200"/>
            <a:ext cx="7178040" cy="1664208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078224"/>
            <a:ext cx="5394960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1">
                <a:solidFill>
                  <a:srgbClr val="F7C948"/>
                </a:solidFill>
                <a:latin typeface="Noto Sans CJK SC"/>
              </a:defRPr>
            </a:pPr>
            <a:r>
              <a:t>02   RANK BY THREE SIGNAL GROUPS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" y="4489704"/>
            <a:ext cx="2112264" cy="75895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617720"/>
            <a:ext cx="1956816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300" b="1">
                <a:solidFill>
                  <a:srgbClr val="F4F0E4"/>
                </a:solidFill>
                <a:latin typeface="Noto Sans CJK SC"/>
              </a:defRPr>
            </a:pPr>
            <a:r>
              <a:t>Sharpe · Sortino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928616"/>
            <a:ext cx="1956816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0">
                <a:solidFill>
                  <a:srgbClr val="CBD9C8"/>
                </a:solidFill>
                <a:latin typeface="Noto Sans CJK SC"/>
              </a:defRPr>
            </a:pPr>
            <a:r>
              <a:t>risk-adjusted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45536" y="4489704"/>
            <a:ext cx="2112264" cy="75895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8688" y="4617720"/>
            <a:ext cx="1956816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300" b="1">
                <a:solidFill>
                  <a:srgbClr val="F4F0E4"/>
                </a:solidFill>
                <a:latin typeface="Noto Sans CJK SC"/>
              </a:defRPr>
            </a:pPr>
            <a:r>
              <a:t>Calmar · Drawdown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4928616"/>
            <a:ext cx="1956816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0">
                <a:solidFill>
                  <a:srgbClr val="CBD9C8"/>
                </a:solidFill>
                <a:latin typeface="Noto Sans CJK SC"/>
              </a:defRPr>
            </a:pPr>
            <a:r>
              <a:t>drawdown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31536" y="4489704"/>
            <a:ext cx="2112264" cy="758952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4688" y="4617720"/>
            <a:ext cx="1956816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300" b="1">
                <a:solidFill>
                  <a:srgbClr val="F4F0E4"/>
                </a:solidFill>
                <a:latin typeface="Noto Sans CJK SC"/>
              </a:defRPr>
            </a:pPr>
            <a:r>
              <a:t>Curve R²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4928616"/>
            <a:ext cx="1956816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0">
                <a:solidFill>
                  <a:srgbClr val="CBD9C8"/>
                </a:solidFill>
                <a:latin typeface="Noto Sans CJK SC"/>
              </a:defRPr>
            </a:pPr>
            <a:r>
              <a:t>consistency</a:t>
            </a:r>
          </a:p>
        </p:txBody>
      </p:sp>
      <p:sp>
        <p:nvSpPr>
          <p:cNvPr id="39" name="Chevron 38"/>
          <p:cNvSpPr/>
          <p:nvPr/>
        </p:nvSpPr>
        <p:spPr>
          <a:xfrm>
            <a:off x="8001000" y="3383280"/>
            <a:ext cx="228600" cy="310896"/>
          </a:xfrm>
          <a:prstGeom prst="chevron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85632" y="2039112"/>
            <a:ext cx="3090672" cy="3511296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313432"/>
            <a:ext cx="2505456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03   GROUP SIMILAR</a:t>
            </a:r>
          </a:p>
        </p:txBody>
      </p:sp>
      <p:sp>
        <p:nvSpPr>
          <p:cNvPr id="42" name="Oval 41"/>
          <p:cNvSpPr/>
          <p:nvPr/>
        </p:nvSpPr>
        <p:spPr>
          <a:xfrm>
            <a:off x="9089136" y="3008376"/>
            <a:ext cx="530352" cy="530352"/>
          </a:xfrm>
          <a:prstGeom prst="ellipse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46336" y="3008376"/>
            <a:ext cx="530352" cy="530352"/>
          </a:xfrm>
          <a:prstGeom prst="ellipse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03536" y="3008376"/>
            <a:ext cx="530352" cy="530352"/>
          </a:xfrm>
          <a:prstGeom prst="ellipse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90304" y="3712463"/>
            <a:ext cx="1353312" cy="27432"/>
          </a:xfrm>
          <a:prstGeom prst="rect">
            <a:avLst/>
          </a:prstGeom>
          <a:solidFill>
            <a:srgbClr val="CB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9875520" y="3794760"/>
            <a:ext cx="228600" cy="310896"/>
          </a:xfrm>
          <a:prstGeom prst="chevron">
            <a:avLst/>
          </a:prstGeom>
          <a:solidFill>
            <a:srgbClr val="CB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33104" y="4325112"/>
            <a:ext cx="2404872" cy="67665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5200" b="1">
                <a:solidFill>
                  <a:srgbClr val="F7C948"/>
                </a:solidFill>
                <a:latin typeface="Noto Sans CJK SC"/>
              </a:defRPr>
            </a:pPr>
            <a: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20056"/>
            <a:ext cx="2542032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400" b="1">
                <a:solidFill>
                  <a:srgbClr val="F4F0E4"/>
                </a:solidFill>
                <a:latin typeface="Noto Sans CJK SC"/>
              </a:defRPr>
            </a:pPr>
            <a:r>
              <a:t>FINALISTS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888736"/>
            <a:ext cx="1170432" cy="329184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5902452"/>
            <a:ext cx="1024128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1">
                <a:solidFill>
                  <a:srgbClr val="F4F0E4"/>
                </a:solidFill>
                <a:latin typeface="Noto Sans CJK SC"/>
              </a:defRPr>
            </a:pPr>
            <a:r>
              <a:t>TRADERS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65960" y="5888736"/>
            <a:ext cx="987552" cy="329184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39112" y="5902452"/>
            <a:ext cx="841248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900" b="1">
                <a:solidFill>
                  <a:srgbClr val="F4F0E4"/>
                </a:solidFill>
                <a:latin typeface="Noto Sans CJK SC"/>
              </a:defRPr>
            </a:pPr>
            <a:r>
              <a:t>VAULTS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8416" y="5907024"/>
            <a:ext cx="8110727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25 is the pick output, not 25 approved trading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3111" cy="18288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28016"/>
            <a:ext cx="82296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881360" cy="5120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AI review can pass or reject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16128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Same policy gate, different recorded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69380"/>
            <a:ext cx="11183111" cy="13715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0528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GitHub main  5fa18ec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6510528"/>
            <a:ext cx="7927848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selection #8 + #10  ·  backend/review/workflow.ts  ·  /api/backend/pipeline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00784"/>
            <a:ext cx="4736592" cy="4416552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200400" cy="2468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MODEL STAGES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386584"/>
            <a:ext cx="3995928" cy="749808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2386584"/>
            <a:ext cx="77724" cy="7498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487168"/>
            <a:ext cx="2194560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788920"/>
            <a:ext cx="338328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portfolio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74136"/>
            <a:ext cx="3995928" cy="749808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374136"/>
            <a:ext cx="77724" cy="749808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3474720"/>
            <a:ext cx="2194560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776472"/>
            <a:ext cx="338328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risk limits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61688"/>
            <a:ext cx="3995928" cy="749808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361688"/>
            <a:ext cx="77724" cy="749808"/>
          </a:xfrm>
          <a:prstGeom prst="rect">
            <a:avLst/>
          </a:prstGeom>
          <a:solidFill>
            <a:srgbClr val="91C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5296" y="4462272"/>
            <a:ext cx="2194560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700" b="1">
                <a:solidFill>
                  <a:srgbClr val="F4F0E4"/>
                </a:solidFill>
                <a:latin typeface="Noto Sans CJK SC"/>
              </a:defRPr>
            </a:pPr>
            <a:r>
              <a:t>RED-TEAM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764024"/>
            <a:ext cx="338328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if a draft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05272"/>
            <a:ext cx="3794760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400" b="1">
                <a:solidFill>
                  <a:srgbClr val="F7C948"/>
                </a:solidFill>
                <a:latin typeface="Noto Sans CJK SC"/>
              </a:defRPr>
            </a:pPr>
            <a:r>
              <a:t>↓   SCHEMA + POLICY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41848" y="1700784"/>
            <a:ext cx="5925312" cy="2011680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1956816"/>
            <a:ext cx="2523744" cy="329184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1970532"/>
            <a:ext cx="2377439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SELECTION 08  ·  18:54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744" y="2423160"/>
            <a:ext cx="3383280" cy="4937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3100" b="1">
                <a:solidFill>
                  <a:srgbClr val="F4F0E4"/>
                </a:solidFill>
                <a:latin typeface="Noto Sans CJK SC"/>
              </a:defRPr>
            </a:pPr>
            <a:r>
              <a:t>VALID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3054096"/>
            <a:ext cx="5029200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500" b="0">
                <a:solidFill>
                  <a:srgbClr val="E5ECDC"/>
                </a:solidFill>
                <a:latin typeface="Noto Sans CJK SC"/>
              </a:defRPr>
            </a:pPr>
            <a:r>
              <a:t>strict  ·  4 manifest 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41848" y="3913632"/>
            <a:ext cx="5925312" cy="2203704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0" y="4160520"/>
            <a:ext cx="2615184" cy="329184"/>
          </a:xfrm>
          <a:prstGeom prst="roundRect">
            <a:avLst/>
          </a:prstGeom>
          <a:solidFill>
            <a:srgbClr val="BA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4174235"/>
            <a:ext cx="2468879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F4F0E4"/>
                </a:solidFill>
                <a:latin typeface="Noto Sans CJK SC"/>
              </a:defRPr>
            </a:pPr>
            <a:r>
              <a:t>SELECTION 10  ·  20:24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4626864"/>
            <a:ext cx="3931920" cy="47548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REJECTED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5276088"/>
            <a:ext cx="5276088" cy="4114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POLICY_VIOLATION  ·  gate none  ·  0 new bench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6208776"/>
            <a:ext cx="5486400" cy="18288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900" b="0">
                <a:solidFill>
                  <a:srgbClr val="CBD9C8"/>
                </a:solidFill>
                <a:latin typeface="Noto Sans CJK SC"/>
              </a:defRPr>
            </a:pPr>
            <a:r>
              <a:t>Exact internal trigger not confirmed by public status or James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3111" cy="18288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PERPPARROT  / 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28016"/>
            <a:ext cx="822960" cy="27432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1000" b="1">
                <a:solidFill>
                  <a:srgbClr val="CBD9C8"/>
                </a:solidFill>
                <a:latin typeface="Noto Sans CJK SC"/>
              </a:defRPr>
            </a:pPr>
            <a:r>
              <a:t>05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12648"/>
            <a:ext cx="10881360" cy="5120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900" b="1">
                <a:solidFill>
                  <a:srgbClr val="F4F0E4"/>
                </a:solidFill>
                <a:latin typeface="Noto Sans CJK SC"/>
              </a:defRPr>
            </a:pPr>
            <a:r>
              <a:t>Executor records a run; fills need separate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16128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300" b="0">
                <a:solidFill>
                  <a:srgbClr val="CBD9C8"/>
                </a:solidFill>
                <a:latin typeface="Noto Sans CJK SC"/>
              </a:defRPr>
            </a:pPr>
            <a:r>
              <a:t>Validate, read the account, plan, dispatch, and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69380"/>
            <a:ext cx="11183111" cy="13715"/>
          </a:xfrm>
          <a:prstGeom prst="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0528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GitHub main  5fa18ec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6510528"/>
            <a:ext cx="7927848" cy="1645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r">
              <a:defRPr sz="800" b="0">
                <a:solidFill>
                  <a:srgbClr val="CBD9C8"/>
                </a:solidFill>
                <a:latin typeface="Noto Sans CJK SC"/>
              </a:defRPr>
            </a:pPr>
            <a:r>
              <a:t>Observed run history 2026-10-07 21:26 UTC+8  ·  /api/executor/runs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47672"/>
            <a:ext cx="2011680" cy="151790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475488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1700784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100" b="1">
                <a:solidFill>
                  <a:srgbClr val="F4F0E4"/>
                </a:solidFill>
                <a:latin typeface="Noto Sans CJK SC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08376"/>
            <a:ext cx="1700784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hash + account</a:t>
            </a:r>
          </a:p>
        </p:txBody>
      </p:sp>
      <p:sp>
        <p:nvSpPr>
          <p:cNvPr id="14" name="Chevron 13"/>
          <p:cNvSpPr/>
          <p:nvPr/>
        </p:nvSpPr>
        <p:spPr>
          <a:xfrm>
            <a:off x="2688336" y="2578608"/>
            <a:ext cx="155448" cy="256032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7791" y="1947672"/>
            <a:ext cx="2011680" cy="151790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30552"/>
            <a:ext cx="475488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523744"/>
            <a:ext cx="1700784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100" b="1">
                <a:solidFill>
                  <a:srgbClr val="F4F0E4"/>
                </a:solidFill>
                <a:latin typeface="Noto Sans CJK SC"/>
              </a:defRPr>
            </a:pPr>
            <a:r>
              <a:t>Read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008376"/>
            <a:ext cx="1700784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live equity</a:t>
            </a:r>
          </a:p>
        </p:txBody>
      </p:sp>
      <p:sp>
        <p:nvSpPr>
          <p:cNvPr id="19" name="Chevron 18"/>
          <p:cNvSpPr/>
          <p:nvPr/>
        </p:nvSpPr>
        <p:spPr>
          <a:xfrm>
            <a:off x="4983479" y="2578608"/>
            <a:ext cx="155448" cy="256032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02936" y="1947672"/>
            <a:ext cx="2011680" cy="151790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7" y="2130552"/>
            <a:ext cx="475488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7" y="2523744"/>
            <a:ext cx="1700784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100" b="1">
                <a:solidFill>
                  <a:srgbClr val="F4F0E4"/>
                </a:solidFill>
                <a:latin typeface="Noto Sans CJK SC"/>
              </a:defRPr>
            </a:pPr>
            <a: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7" y="3008376"/>
            <a:ext cx="1700784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gap + limits</a:t>
            </a:r>
          </a:p>
        </p:txBody>
      </p:sp>
      <p:sp>
        <p:nvSpPr>
          <p:cNvPr id="24" name="Chevron 23"/>
          <p:cNvSpPr/>
          <p:nvPr/>
        </p:nvSpPr>
        <p:spPr>
          <a:xfrm>
            <a:off x="7278623" y="2578608"/>
            <a:ext cx="155448" cy="256032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79" y="1947672"/>
            <a:ext cx="2011680" cy="1517904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2130552"/>
            <a:ext cx="475488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523744"/>
            <a:ext cx="1700784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100" b="1">
                <a:solidFill>
                  <a:srgbClr val="F4F0E4"/>
                </a:solidFill>
                <a:latin typeface="Noto Sans CJK SC"/>
              </a:defRPr>
            </a:pPr>
            <a:r>
              <a:t>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3008376"/>
            <a:ext cx="1700784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order actions</a:t>
            </a:r>
          </a:p>
        </p:txBody>
      </p:sp>
      <p:sp>
        <p:nvSpPr>
          <p:cNvPr id="29" name="Chevron 28"/>
          <p:cNvSpPr/>
          <p:nvPr/>
        </p:nvSpPr>
        <p:spPr>
          <a:xfrm>
            <a:off x="9573767" y="2578608"/>
            <a:ext cx="155448" cy="256032"/>
          </a:xfrm>
          <a:prstGeom prst="chevron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93224" y="1947672"/>
            <a:ext cx="2011680" cy="1517904"/>
          </a:xfrm>
          <a:prstGeom prst="roundRect">
            <a:avLst/>
          </a:prstGeom>
          <a:solidFill>
            <a:srgbClr val="276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7815" y="2130552"/>
            <a:ext cx="475488" cy="28346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F7C948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5" y="2523744"/>
            <a:ext cx="1700784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100" b="1">
                <a:solidFill>
                  <a:srgbClr val="F4F0E4"/>
                </a:solidFill>
                <a:latin typeface="Noto Sans CJK SC"/>
              </a:defRPr>
            </a:pPr>
            <a: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5" y="3008376"/>
            <a:ext cx="1700784" cy="192024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run 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3904487"/>
            <a:ext cx="7068312" cy="2002536"/>
          </a:xfrm>
          <a:prstGeom prst="roundRect">
            <a:avLst/>
          </a:prstGeom>
          <a:solidFill>
            <a:srgbClr val="1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160520"/>
            <a:ext cx="6309360" cy="25603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PERSISTED RUN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562856"/>
            <a:ext cx="6309360" cy="393192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2200" b="1">
                <a:solidFill>
                  <a:srgbClr val="F4F0E4"/>
                </a:solidFill>
                <a:latin typeface="Noto Sans CJK SC"/>
              </a:defRPr>
            </a:pPr>
            <a:r>
              <a:t>mirror-1791379200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" y="5184648"/>
            <a:ext cx="1984248" cy="329184"/>
          </a:xfrm>
          <a:prstGeom prst="round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" y="5198364"/>
            <a:ext cx="1837943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dryRun: false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54096" y="5184648"/>
            <a:ext cx="2395728" cy="329184"/>
          </a:xfrm>
          <a:prstGeom prst="round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5198364"/>
            <a:ext cx="2249424" cy="29260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ctr">
              <a:defRPr sz="1000" b="1">
                <a:solidFill>
                  <a:srgbClr val="143A2B"/>
                </a:solidFill>
                <a:latin typeface="Noto Sans CJK SC"/>
              </a:defRPr>
            </a:pPr>
            <a:r>
              <a:t>status: executed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7848" y="3904487"/>
            <a:ext cx="3648456" cy="2002536"/>
          </a:xfrm>
          <a:prstGeom prst="roundRect">
            <a:avLst/>
          </a:prstGeom>
          <a:solidFill>
            <a:srgbClr val="1E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4160520"/>
            <a:ext cx="3127248" cy="228600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1">
                <a:solidFill>
                  <a:srgbClr val="CBD9C8"/>
                </a:solidFill>
                <a:latin typeface="Noto Sans CJK SC"/>
              </a:defRPr>
            </a:pPr>
            <a:r>
              <a:t>WHAT THIS PROVES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572000"/>
            <a:ext cx="3145536" cy="33832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900" b="1">
                <a:solidFill>
                  <a:srgbClr val="F4F0E4"/>
                </a:solidFill>
                <a:latin typeface="Noto Sans CJK SC"/>
              </a:defRPr>
            </a:pPr>
            <a:r>
              <a:t>Service run recorded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5010912"/>
            <a:ext cx="3145536" cy="265176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200" b="0">
                <a:solidFill>
                  <a:srgbClr val="CBD9C8"/>
                </a:solidFill>
                <a:latin typeface="Noto Sans CJK SC"/>
              </a:defRPr>
            </a:pPr>
            <a:r>
              <a:t>Service run recorded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5458968"/>
            <a:ext cx="3136391" cy="18288"/>
          </a:xfrm>
          <a:prstGeom prst="rect">
            <a:avLst/>
          </a:prstGeom>
          <a:solidFill>
            <a:srgbClr val="E9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5596128"/>
            <a:ext cx="3182112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900" b="1">
                <a:solidFill>
                  <a:srgbClr val="E98224"/>
                </a:solidFill>
                <a:latin typeface="Noto Sans CJK SC"/>
              </a:defRPr>
            </a:pPr>
            <a:r>
              <a:t>Fills / PnL: not verified here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163056"/>
            <a:ext cx="10378440" cy="201168"/>
          </a:xfrm>
          <a:prstGeom prst="rect">
            <a:avLst/>
          </a:prstGeom>
          <a:noFill/>
        </p:spPr>
        <p:txBody>
          <a:bodyPr wrap="square" lIns="9144" rIns="9144" tIns="0" bIns="0" anchor="ctr">
            <a:spAutoFit/>
          </a:bodyPr>
          <a:lstStyle/>
          <a:p>
            <a:pPr algn="l">
              <a:defRPr sz="1000" b="0">
                <a:solidFill>
                  <a:srgbClr val="CBD9C8"/>
                </a:solidFill>
                <a:latin typeface="Noto Sans CJK SC"/>
              </a:defRPr>
            </a:pPr>
            <a:r>
              <a:t>Instance status and shared run history are different 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PerpParrot — Pitch and Walkthrough Draft</dc:title>
  <dc:subject>Four editable English pitch slides with evidence-bounded visuals</dc:subject>
  <dc:creator>PerpParrot / QuantFun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